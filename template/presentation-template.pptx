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  <p:sldMasterId id="2147483664" r:id="rId6"/>
  </p:sldMasterIdLst>
  <p:notesMasterIdLst>
    <p:notesMasterId r:id="rId7"/>
  </p:notesMasterIdLst>
  <p:sldIdLst>
    <p:sldId id="256" r:id="rId8"/>
    <p:sldId id="258" r:id="rId10"/>
    <p:sldId id="261" r:id="rId13"/>
    <p:sldId id="265" r:id="rId17"/>
    <p:sldId id="267" r:id="rId19"/>
    <p:sldId id="270" r:id="rId22"/>
    <p:sldId id="273" r:id="rId25"/>
    <p:sldId id="276" r:id="rId28"/>
    <p:sldId id="277" r:id="rId29"/>
    <p:sldId id="278" r:id="rId30"/>
    <p:sldId id="281" r:id="rId33"/>
    <p:sldId id="282" r:id="rId34"/>
    <p:sldId id="284" r:id="rId36"/>
    <p:sldId id="285" r:id="rId37"/>
    <p:sldId id="286" r:id="rId38"/>
  </p:sldIdLst>
  <p:sldSz cy="5143500" cx="9144000"/>
  <p:notesSz cx="6858000" cy="9144000"/>
  <p:embeddedFontLst>
    <p:embeddedFont>
      <p:font typeface="Noto Sans TC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ED71BE-FE41-4826-A8D2-CA28A87D2B8E}">
  <a:tblStyle styleId="{CFED71BE-FE41-4826-A8D2-CA28A87D2B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7" Type="http://schemas.openxmlformats.org/officeDocument/2006/relationships/slide" Target="slides/slide10.xml"/><Relationship Id="rId19" Type="http://schemas.openxmlformats.org/officeDocument/2006/relationships/slide" Target="slides/slide12.xml"/><Relationship Id="rId22" Type="http://schemas.openxmlformats.org/officeDocument/2006/relationships/slide" Target="slides/slide15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font" Target="fonts/NotoSansTC-regular.fntdata"/><Relationship Id="rId40" Type="http://schemas.openxmlformats.org/officeDocument/2006/relationships/font" Target="fonts/NotoSansTC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39453b918ef3bf85_2_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h39453b918ef3bf85_2_1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h39453b918ef3bf85_2_1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9453b918ef3bf85_2_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39453b918ef3bf85_2_7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39453b918ef3bf85_2_7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39453b918ef3bf85_2_1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h39453b918ef3bf85_2_18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39453b918ef3bf85_2_18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39453b918ef3bf85_2_2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h39453b918ef3bf85_2_2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h39453b918ef3bf85_2_2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h39453b918ef3bf85_2_2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h39453b918ef3bf85_2_26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39453b918ef3bf85_2_26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39453b918ef3bf85_2_38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h39453b918ef3bf85_2_38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h39453b918ef3bf85_2_38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h39453b918ef3bf85_2_5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h39453b918ef3bf85_2_5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h39453b918ef3bf85_2_5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h39453b918ef3bf85_2_6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h39453b918ef3bf85_2_60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h39453b918ef3bf85_2_60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h39453b918ef3bf85_2_6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h39453b918ef3bf85_2_6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h39453b918ef3bf85_2_6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39453b918ef3bf85_2_6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h39453b918ef3bf85_2_6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h39453b918ef3bf85_2_6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h39453b918ef3bf85_2_7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h39453b918ef3bf85_2_76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h39453b918ef3bf85_2_76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h39453b918ef3bf85_2_8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h39453b918ef3bf85_2_8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h39453b918ef3bf85_2_8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h39453b918ef3bf85_2_8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8" name="Google Shape;898;h39453b918ef3bf85_2_8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h39453b918ef3bf85_2_8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h39453b918ef3bf85_2_8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8" name="Google Shape;938;h39453b918ef3bf85_2_8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h39453b918ef3bf85_2_8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h39453b918ef3bf85_2_9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h39453b918ef3bf85_2_9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h39453b918ef3bf85_2_9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  <a:defRPr b="1" i="0" sz="2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_NUM">
  <p:cSld name="DARK_NUM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slidesgo.com/theme/uiux-infographics" TargetMode="External"/><Relationship Id="rId5" Type="http://schemas.openxmlformats.org/officeDocument/2006/relationships/hyperlink" Target="https://my.ntu.edu.tw/clubactivities/" TargetMode="External"/><Relationship Id="rId7" Type="http://schemas.openxmlformats.org/officeDocument/2006/relationships/hyperlink" Target="https://activity.osa.ntu.edu.tw/" TargetMode="External"/><Relationship Id="rId9" Type="http://schemas.openxmlformats.org/officeDocument/2006/relationships/hyperlink" Target="https://activity.sa.ntnu.edu.tw/cluboverview/" TargetMode="External"/><Relationship Id="rId11" Type="http://schemas.openxmlformats.org/officeDocument/2006/relationships/hyperlink" Target="https://activity.sa.ntnu.edu.tw/administrativeproces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/>
          <p:nvPr/>
        </p:nvSpPr>
        <p:spPr>
          <a:xfrm>
            <a:off x="5760720" y="-1005840"/>
            <a:ext cx="4023360" cy="4023360"/>
          </a:xfrm>
          <a:prstGeom prst="ellipse">
            <a:avLst/>
          </a:prstGeom>
          <a:solidFill>
            <a:schemeClr val="accent1">
              <a:alpha val="18039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8"/>
          <p:cNvSpPr/>
          <p:nvPr/>
        </p:nvSpPr>
        <p:spPr>
          <a:xfrm>
            <a:off x="7223760" y="2377440"/>
            <a:ext cx="2560320" cy="2560320"/>
          </a:xfrm>
          <a:prstGeom prst="ellipse">
            <a:avLst/>
          </a:prstGeom>
          <a:solidFill>
            <a:schemeClr val="accent1">
              <a:alpha val="30196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8"/>
          <p:cNvSpPr txBox="1"/>
          <p:nvPr/>
        </p:nvSpPr>
        <p:spPr>
          <a:xfrm>
            <a:off x="548640" y="8686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活動或場合名稱｜簡報類型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" name="Google Shape;68;p18"/>
          <p:cNvSpPr txBox="1"/>
          <p:nvPr/>
        </p:nvSpPr>
        <p:spPr>
          <a:xfrm>
            <a:off x="548640" y="128016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oto Sans TC"/>
              <a:buNone/>
            </a:pPr>
            <a:r>
              <a:rPr b="1" i="0" lang="zh-TW" sz="48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專案名稱</a:t>
            </a:r>
            <a:endParaRPr b="0" i="0" sz="4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" name="Google Shape;69;p18"/>
          <p:cNvSpPr txBox="1"/>
          <p:nvPr/>
        </p:nvSpPr>
        <p:spPr>
          <a:xfrm>
            <a:off x="548640" y="224028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TC"/>
              <a:buNone/>
            </a:pPr>
            <a:r>
              <a:rPr b="1" i="0" lang="zh-TW" sz="1800" u="none" cap="none" strike="noStrike">
                <a:solidFill>
                  <a:schemeClr val="accent3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一句話說明你要解決的問題</a:t>
            </a:r>
            <a:endParaRPr b="0" i="0" sz="18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0" name="Google Shape;70;p18"/>
          <p:cNvSpPr txBox="1"/>
          <p:nvPr/>
        </p:nvSpPr>
        <p:spPr>
          <a:xfrm>
            <a:off x="548640" y="27432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Noto Sans TC"/>
              <a:buNone/>
            </a:pPr>
            <a:r>
              <a:rPr b="0" i="0" lang="zh-TW" sz="120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補充說明：產品做什麼、帶給誰什麼價值。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" name="Google Shape;71;p18"/>
          <p:cNvSpPr txBox="1"/>
          <p:nvPr/>
        </p:nvSpPr>
        <p:spPr>
          <a:xfrm>
            <a:off x="548640" y="43434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團隊　團隊名稱｜2026.10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" name="Google Shape;72;p18"/>
          <p:cNvSpPr/>
          <p:nvPr/>
        </p:nvSpPr>
        <p:spPr>
          <a:xfrm>
            <a:off x="5806440" y="822960"/>
            <a:ext cx="2697480" cy="3520440"/>
          </a:xfrm>
          <a:prstGeom prst="roundRect">
            <a:avLst>
              <a:gd fmla="val 2712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5989320" y="1005840"/>
            <a:ext cx="384048" cy="38404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8"/>
          <p:cNvSpPr txBox="1"/>
          <p:nvPr/>
        </p:nvSpPr>
        <p:spPr>
          <a:xfrm>
            <a:off x="5989320" y="1005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示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5" name="Google Shape;75;p18"/>
          <p:cNvSpPr txBox="1"/>
          <p:nvPr/>
        </p:nvSpPr>
        <p:spPr>
          <a:xfrm>
            <a:off x="6464808" y="9875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名稱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6464808" y="12161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副標籤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學生在校園拍照" id="77" name="Google Shape;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1554480"/>
            <a:ext cx="233172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/>
        </p:nvSpPr>
        <p:spPr>
          <a:xfrm>
            <a:off x="5989320" y="276148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Noto Sans TC"/>
              <a:buNone/>
            </a:pPr>
            <a:r>
              <a:rPr b="1" i="0" lang="zh-TW" sz="11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卡片標題｜示意內容</a:t>
            </a:r>
            <a:endParaRPr b="0" i="0" sz="11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9" name="Google Shape;79;p18"/>
          <p:cNvSpPr/>
          <p:nvPr/>
        </p:nvSpPr>
        <p:spPr>
          <a:xfrm>
            <a:off x="5989320" y="3090672"/>
            <a:ext cx="868680" cy="23774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8"/>
          <p:cNvSpPr txBox="1"/>
          <p:nvPr/>
        </p:nvSpPr>
        <p:spPr>
          <a:xfrm>
            <a:off x="5989320" y="3090672"/>
            <a:ext cx="868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Font typeface="Noto Sans TC"/>
              <a:buNone/>
            </a:pPr>
            <a:r>
              <a:rPr b="1" i="0" lang="zh-TW" sz="8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狀態標籤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6949440" y="309067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日期・地點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82" name="Google Shape;82;p18"/>
          <p:cNvCxnSpPr/>
          <p:nvPr/>
        </p:nvCxnSpPr>
        <p:spPr>
          <a:xfrm>
            <a:off x="5989320" y="3520440"/>
            <a:ext cx="233172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8"/>
          <p:cNvSpPr txBox="1"/>
          <p:nvPr/>
        </p:nvSpPr>
        <p:spPr>
          <a:xfrm>
            <a:off x="5989320" y="36576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♡ 喜歡　☆ 收藏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7635240" y="3721608"/>
            <a:ext cx="685800" cy="329184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/>
        </p:nvSpPr>
        <p:spPr>
          <a:xfrm>
            <a:off x="7635240" y="3721608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按鈕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章節名稱</a:t>
            </a:r>
            <a:endParaRPr sz="1000"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標題直接寫出這頁的結論</a:t>
            </a:r>
            <a:endParaRPr sz="2400"/>
          </a:p>
        </p:txBody>
      </p:sp>
      <p:sp>
        <p:nvSpPr>
          <p:cNvPr id="106" name="Google Shape;106;p20"/>
          <p:cNvSpPr/>
          <p:nvPr/>
        </p:nvSpPr>
        <p:spPr>
          <a:xfrm>
            <a:off x="502920" y="1234440"/>
            <a:ext cx="2615184" cy="2743200"/>
          </a:xfrm>
          <a:prstGeom prst="roundRect">
            <a:avLst>
              <a:gd fmla="val 279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731520" y="14173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TC"/>
              <a:buNone/>
            </a:pPr>
            <a:r>
              <a:rPr b="1" i="0" lang="zh-TW" sz="26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731520" y="1947672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對象一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731520" y="2331720"/>
            <a:ext cx="1600200" cy="27432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731520" y="23317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標籤說明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749808" y="289864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941832" y="280720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749808" y="326440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941832" y="317296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749808" y="363016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941832" y="35387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C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3264408" y="1234440"/>
            <a:ext cx="2615184" cy="2743200"/>
          </a:xfrm>
          <a:prstGeom prst="roundRect">
            <a:avLst>
              <a:gd fmla="val 279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3493008" y="14173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TC"/>
              <a:buNone/>
            </a:pPr>
            <a:r>
              <a:rPr b="1" i="0" lang="zh-TW" sz="260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493008" y="1947672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對象二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3493008" y="2331720"/>
            <a:ext cx="1600200" cy="27432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493008" y="23317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標籤說明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3511296" y="2898648"/>
            <a:ext cx="91440" cy="91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3703320" y="280720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3511296" y="3264408"/>
            <a:ext cx="91440" cy="91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3703320" y="317296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3511296" y="3630168"/>
            <a:ext cx="91440" cy="914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3703320" y="35387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C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6025896" y="1234440"/>
            <a:ext cx="2615184" cy="2743200"/>
          </a:xfrm>
          <a:prstGeom prst="roundRect">
            <a:avLst>
              <a:gd fmla="val 279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/>
        </p:nvSpPr>
        <p:spPr>
          <a:xfrm>
            <a:off x="6254496" y="14173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Noto Sans TC"/>
              <a:buNone/>
            </a:pPr>
            <a:r>
              <a:rPr b="1" i="0" lang="zh-TW" sz="26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6254496" y="1947672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對象三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6254496" y="2331720"/>
            <a:ext cx="1600200" cy="27432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6254496" y="233172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標籤說明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6272784" y="289864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6464808" y="280720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6272784" y="326440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6464808" y="317296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272784" y="3630168"/>
            <a:ext cx="91440" cy="914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6464808" y="353872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 C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502920" y="4160520"/>
            <a:ext cx="8138160" cy="420624"/>
          </a:xfrm>
          <a:prstGeom prst="roundRect">
            <a:avLst>
              <a:gd fmla="val 17391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731520" y="4160520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核心結論：用一句話總結這頁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141" name="Google Shape;141;p20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關鍵數據</a:t>
            </a:r>
            <a:endParaRPr sz="1000"/>
          </a:p>
        </p:txBody>
      </p:sp>
      <p:sp>
        <p:nvSpPr>
          <p:cNvPr id="225" name="Google Shape;225;p23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用一個大數字說明規模</a:t>
            </a:r>
            <a:endParaRPr sz="2400"/>
          </a:p>
        </p:txBody>
      </p:sp>
      <p:sp>
        <p:nvSpPr>
          <p:cNvPr id="226" name="Google Shape;226;p23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資料來源：寫出數據來源與整理日期。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02920" y="1463040"/>
            <a:ext cx="3291840" cy="2743200"/>
          </a:xfrm>
          <a:prstGeom prst="roundRect">
            <a:avLst>
              <a:gd fmla="val 2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777240" y="1600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Noto Sans TC"/>
              <a:buNone/>
            </a:pPr>
            <a:r>
              <a:rPr b="1" i="0" lang="zh-TW" sz="7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137</a:t>
            </a:r>
            <a:endParaRPr b="0" i="0" sz="7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777240" y="2697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單位或說明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777240" y="3108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一句話解讀這個數字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77240" y="3566160"/>
            <a:ext cx="2286000" cy="292608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777240" y="356616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分類一・分類二・分類三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4023360" y="1463040"/>
            <a:ext cx="4617720" cy="2743200"/>
          </a:xfrm>
          <a:prstGeom prst="roundRect">
            <a:avLst>
              <a:gd fmla="val 266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4297680" y="173736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項目 A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452360" y="173736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57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4297680" y="2121408"/>
            <a:ext cx="4069080" cy="128016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4297680" y="2121408"/>
            <a:ext cx="4069080" cy="128016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4297680" y="25146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項目 B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7452360" y="251460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52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4297680" y="2898648"/>
            <a:ext cx="4069080" cy="128016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4297680" y="2898648"/>
            <a:ext cx="3712143" cy="128016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297680" y="329184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項目 C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452360" y="3291840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28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4297680" y="3675888"/>
            <a:ext cx="4069080" cy="128016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4297680" y="3675888"/>
            <a:ext cx="1998846" cy="128016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02920" y="438912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lang="zh-TW" sz="95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本頁重點　</a:t>
            </a:r>
            <a:r>
              <a:rPr lang="zh-TW" sz="95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用一句話說明這個數字代表什麼。</a:t>
            </a:r>
            <a:endParaRPr sz="950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47" name="Google Shape;247;p23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比較分析</a:t>
            </a:r>
            <a:endParaRPr sz="1000"/>
          </a:p>
        </p:txBody>
      </p:sp>
      <p:sp>
        <p:nvSpPr>
          <p:cNvPr id="275" name="Google Shape;275;p27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標題寫出比較後的結論</a:t>
            </a:r>
            <a:endParaRPr sz="2400"/>
          </a:p>
        </p:txBody>
      </p:sp>
      <p:sp>
        <p:nvSpPr>
          <p:cNvPr id="276" name="Google Shape;276;p27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比較表說明（資料來源與整理方式）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aphicFrame>
        <p:nvGraphicFramePr>
          <p:cNvPr id="277" name="Google Shape;277;p27"/>
          <p:cNvGraphicFramePr/>
          <p:nvPr/>
        </p:nvGraphicFramePr>
        <p:xfrm>
          <a:off x="50292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{CFED71BE-FE41-4826-A8D2-CA28A87D2B8E}</a:tableStyleId>
              </a:tblPr>
              <a:tblGrid>
                <a:gridCol w="1700775"/>
                <a:gridCol w="914400"/>
                <a:gridCol w="914400"/>
                <a:gridCol w="914400"/>
                <a:gridCol w="914400"/>
                <a:gridCol w="914400"/>
                <a:gridCol w="932700"/>
                <a:gridCol w="93270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比較對象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1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2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3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4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5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6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功能 7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現有方案 A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現有方案 B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現有方案 C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現有方案 D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現有方案 E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現有方案 F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000"/>
                        <a:buFont typeface="Noto Sans TC"/>
                        <a:buNone/>
                      </a:pPr>
                      <a:r>
                        <a:rPr lang="zh-TW" sz="1000" u="none" cap="none" strike="noStrike">
                          <a:solidFill>
                            <a:schemeClr val="accent6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—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我們的方案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54875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00"/>
                        <a:buFont typeface="Noto Sans TC"/>
                        <a:buNone/>
                      </a:pPr>
                      <a:r>
                        <a:rPr b="1" lang="zh-TW" sz="100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✓</a:t>
                      </a:r>
                      <a:endParaRPr sz="100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27"/>
          <p:cNvSpPr txBox="1"/>
          <p:nvPr/>
        </p:nvSpPr>
        <p:spPr>
          <a:xfrm>
            <a:off x="502920" y="420624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本頁重點　</a:t>
            </a: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說明你的方案和現有方案最大的差別。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279" name="Google Shape;279;p27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解決方案</a:t>
            </a:r>
            <a:endParaRPr sz="1000"/>
          </a:p>
        </p:txBody>
      </p:sp>
      <p:sp>
        <p:nvSpPr>
          <p:cNvPr id="326" name="Google Shape;326;p29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lang="zh-TW"/>
              <a:t>用三個步驟說明解決方式</a:t>
            </a:r>
            <a:endParaRPr sz="2400"/>
          </a:p>
        </p:txBody>
      </p:sp>
      <p:sp>
        <p:nvSpPr>
          <p:cNvPr id="327" name="Google Shape;327;p29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lang="zh-TW" sz="1100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一句話承接前面的問題，引出接下來的內容。</a:t>
            </a:r>
            <a:endParaRPr sz="1100">
              <a:solidFill>
                <a:schemeClr val="dk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t/>
            </a:r>
            <a:endParaRPr sz="1100">
              <a:solidFill>
                <a:schemeClr val="dk2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502920" y="1554480"/>
            <a:ext cx="2468880" cy="1965960"/>
          </a:xfrm>
          <a:prstGeom prst="roundRect">
            <a:avLst>
              <a:gd fmla="val 37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777240" y="1783080"/>
            <a:ext cx="914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TC"/>
              <a:buNone/>
            </a:pPr>
            <a:r>
              <a:rPr b="1" i="0" lang="zh-TW" sz="3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777240" y="2468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步驟一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777240" y="2880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說明這一步做什麼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332" name="Google Shape;332;p29"/>
          <p:cNvCxnSpPr/>
          <p:nvPr/>
        </p:nvCxnSpPr>
        <p:spPr>
          <a:xfrm>
            <a:off x="3044952" y="2537460"/>
            <a:ext cx="219456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29"/>
          <p:cNvSpPr/>
          <p:nvPr/>
        </p:nvSpPr>
        <p:spPr>
          <a:xfrm>
            <a:off x="3337560" y="1554480"/>
            <a:ext cx="2468880" cy="1965960"/>
          </a:xfrm>
          <a:prstGeom prst="roundRect">
            <a:avLst>
              <a:gd fmla="val 37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3611880" y="1783080"/>
            <a:ext cx="914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TC"/>
              <a:buNone/>
            </a:pPr>
            <a:r>
              <a:rPr b="1" i="0" lang="zh-TW" sz="3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35" name="Google Shape;335;p29"/>
          <p:cNvSpPr txBox="1"/>
          <p:nvPr/>
        </p:nvSpPr>
        <p:spPr>
          <a:xfrm>
            <a:off x="3611880" y="2468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步驟二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3611880" y="2880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說明這一步做什麼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>
            <a:off x="5879592" y="2537460"/>
            <a:ext cx="219456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8" name="Google Shape;338;p29"/>
          <p:cNvSpPr/>
          <p:nvPr/>
        </p:nvSpPr>
        <p:spPr>
          <a:xfrm>
            <a:off x="6172200" y="1554480"/>
            <a:ext cx="2468880" cy="1965960"/>
          </a:xfrm>
          <a:prstGeom prst="roundRect">
            <a:avLst>
              <a:gd fmla="val 37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6446520" y="1783080"/>
            <a:ext cx="914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TC"/>
              <a:buNone/>
            </a:pPr>
            <a:r>
              <a:rPr b="1" i="0" lang="zh-TW" sz="3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0" name="Google Shape;340;p29"/>
          <p:cNvSpPr txBox="1"/>
          <p:nvPr/>
        </p:nvSpPr>
        <p:spPr>
          <a:xfrm>
            <a:off x="6446520" y="246888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步驟三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1" name="Google Shape;341;p29"/>
          <p:cNvSpPr txBox="1"/>
          <p:nvPr/>
        </p:nvSpPr>
        <p:spPr>
          <a:xfrm>
            <a:off x="6446520" y="2880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說明這一步做什麼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2" name="Google Shape;342;p29"/>
          <p:cNvSpPr/>
          <p:nvPr/>
        </p:nvSpPr>
        <p:spPr>
          <a:xfrm>
            <a:off x="502920" y="3840480"/>
            <a:ext cx="8138160" cy="457200"/>
          </a:xfrm>
          <a:prstGeom prst="roundRect">
            <a:avLst>
              <a:gd fmla="val 16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頁面 A　→　頁面 B　→　頁面 C　→　頁面 D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344" name="Google Shape;344;p29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2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介面說明 01</a:t>
            </a:r>
            <a:endParaRPr sz="1000"/>
          </a:p>
        </p:txBody>
      </p:sp>
      <p:sp>
        <p:nvSpPr>
          <p:cNvPr id="449" name="Google Shape;449;p32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標題寫出這個介面的設計重點</a:t>
            </a:r>
            <a:endParaRPr sz="2400"/>
          </a:p>
        </p:txBody>
      </p:sp>
      <p:sp>
        <p:nvSpPr>
          <p:cNvPr id="450" name="Google Shape;450;p32"/>
          <p:cNvSpPr/>
          <p:nvPr/>
        </p:nvSpPr>
        <p:spPr>
          <a:xfrm>
            <a:off x="502920" y="1280160"/>
            <a:ext cx="4754880" cy="3337560"/>
          </a:xfrm>
          <a:prstGeom prst="roundRect">
            <a:avLst>
              <a:gd fmla="val 2192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2"/>
          <p:cNvSpPr/>
          <p:nvPr/>
        </p:nvSpPr>
        <p:spPr>
          <a:xfrm>
            <a:off x="704088" y="1463040"/>
            <a:ext cx="384048" cy="384048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704088" y="1463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示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3" name="Google Shape;453;p32"/>
          <p:cNvSpPr txBox="1"/>
          <p:nvPr/>
        </p:nvSpPr>
        <p:spPr>
          <a:xfrm>
            <a:off x="1188720" y="143560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Noto Sans TC"/>
              <a:buNone/>
            </a:pPr>
            <a:r>
              <a:rPr b="1" i="0" lang="zh-TW" sz="12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名稱</a:t>
            </a:r>
            <a:endParaRPr b="0" i="0" sz="12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1188720" y="167335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時間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pic>
        <p:nvPicPr>
          <p:cNvPr descr="學生在校園拍照" id="455" name="Google Shape;4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" y="1993392"/>
            <a:ext cx="4352544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2"/>
          <p:cNvSpPr txBox="1"/>
          <p:nvPr/>
        </p:nvSpPr>
        <p:spPr>
          <a:xfrm>
            <a:off x="704088" y="3364992"/>
            <a:ext cx="4352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卡片標題｜示意內容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704088" y="3639312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一行簡短的內容說明。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58" name="Google Shape;458;p32"/>
          <p:cNvSpPr/>
          <p:nvPr/>
        </p:nvSpPr>
        <p:spPr>
          <a:xfrm>
            <a:off x="704088" y="3977640"/>
            <a:ext cx="4352544" cy="502920"/>
          </a:xfrm>
          <a:prstGeom prst="roundRect">
            <a:avLst>
              <a:gd fmla="val 1090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2"/>
          <p:cNvSpPr txBox="1"/>
          <p:nvPr/>
        </p:nvSpPr>
        <p:spPr>
          <a:xfrm>
            <a:off x="850392" y="400507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日期與時間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0" name="Google Shape;460;p32"/>
          <p:cNvSpPr txBox="1"/>
          <p:nvPr/>
        </p:nvSpPr>
        <p:spPr>
          <a:xfrm>
            <a:off x="850392" y="422452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地點・補充資訊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1" name="Google Shape;461;p32"/>
          <p:cNvSpPr/>
          <p:nvPr/>
        </p:nvSpPr>
        <p:spPr>
          <a:xfrm>
            <a:off x="4206240" y="4069080"/>
            <a:ext cx="731520" cy="310896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2"/>
          <p:cNvSpPr txBox="1"/>
          <p:nvPr/>
        </p:nvSpPr>
        <p:spPr>
          <a:xfrm>
            <a:off x="4206240" y="4069080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按鈕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3" name="Google Shape;463;p32"/>
          <p:cNvSpPr/>
          <p:nvPr/>
        </p:nvSpPr>
        <p:spPr>
          <a:xfrm>
            <a:off x="5715000" y="1417320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5715000" y="1417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6245352" y="13990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功能說明一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6245352" y="16916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這個區塊的用途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5715000" y="2167128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5715000" y="2167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6245352" y="21488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功能說明二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0" name="Google Shape;470;p32"/>
          <p:cNvSpPr txBox="1"/>
          <p:nvPr/>
        </p:nvSpPr>
        <p:spPr>
          <a:xfrm>
            <a:off x="6245352" y="244144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這個區塊的用途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5715000" y="2916936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2"/>
          <p:cNvSpPr txBox="1"/>
          <p:nvPr/>
        </p:nvSpPr>
        <p:spPr>
          <a:xfrm>
            <a:off x="5715000" y="29169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6245352" y="289864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功能說明三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4" name="Google Shape;474;p32"/>
          <p:cNvSpPr txBox="1"/>
          <p:nvPr/>
        </p:nvSpPr>
        <p:spPr>
          <a:xfrm>
            <a:off x="6245352" y="3191256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這個區塊的用途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5000" y="3666744"/>
            <a:ext cx="384048" cy="384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2"/>
          <p:cNvSpPr txBox="1"/>
          <p:nvPr/>
        </p:nvSpPr>
        <p:spPr>
          <a:xfrm>
            <a:off x="5715000" y="36667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7" name="Google Shape;477;p32"/>
          <p:cNvSpPr txBox="1"/>
          <p:nvPr/>
        </p:nvSpPr>
        <p:spPr>
          <a:xfrm>
            <a:off x="6245352" y="364845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功能說明四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8" name="Google Shape;478;p32"/>
          <p:cNvSpPr txBox="1"/>
          <p:nvPr/>
        </p:nvSpPr>
        <p:spPr>
          <a:xfrm>
            <a:off x="6245352" y="39410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TC"/>
              <a:buNone/>
            </a:pPr>
            <a:r>
              <a:rPr b="0" i="0" lang="zh-TW" sz="10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這個區塊的用途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479" name="Google Shape;479;p32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5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流程或架構</a:t>
            </a:r>
            <a:endParaRPr sz="1000"/>
          </a:p>
        </p:txBody>
      </p:sp>
      <p:sp>
        <p:nvSpPr>
          <p:cNvPr id="569" name="Google Shape;569;p35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標題說明各環節如何串接</a:t>
            </a:r>
            <a:endParaRPr sz="2400"/>
          </a:p>
        </p:txBody>
      </p:sp>
      <p:sp>
        <p:nvSpPr>
          <p:cNvPr id="570" name="Google Shape;570;p35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一句話補充範圍或前提。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71" name="Google Shape;571;p35"/>
          <p:cNvSpPr/>
          <p:nvPr/>
        </p:nvSpPr>
        <p:spPr>
          <a:xfrm>
            <a:off x="502920" y="1600200"/>
            <a:ext cx="1600200" cy="2011680"/>
          </a:xfrm>
          <a:prstGeom prst="roundRect">
            <a:avLst>
              <a:gd fmla="val 457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5"/>
          <p:cNvSpPr/>
          <p:nvPr/>
        </p:nvSpPr>
        <p:spPr>
          <a:xfrm>
            <a:off x="704088" y="1801368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5"/>
          <p:cNvSpPr txBox="1"/>
          <p:nvPr/>
        </p:nvSpPr>
        <p:spPr>
          <a:xfrm>
            <a:off x="704088" y="1801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74" name="Google Shape;574;p35"/>
          <p:cNvSpPr txBox="1"/>
          <p:nvPr/>
        </p:nvSpPr>
        <p:spPr>
          <a:xfrm>
            <a:off x="704088" y="2377440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環節一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704088" y="277063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工具或角色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76" name="Google Shape;576;p35"/>
          <p:cNvSpPr txBox="1"/>
          <p:nvPr/>
        </p:nvSpPr>
        <p:spPr>
          <a:xfrm>
            <a:off x="704088" y="30449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577" name="Google Shape;577;p35"/>
          <p:cNvCxnSpPr/>
          <p:nvPr/>
        </p:nvCxnSpPr>
        <p:spPr>
          <a:xfrm>
            <a:off x="2157984" y="2606040"/>
            <a:ext cx="469087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35"/>
          <p:cNvSpPr txBox="1"/>
          <p:nvPr/>
        </p:nvSpPr>
        <p:spPr>
          <a:xfrm>
            <a:off x="2103120" y="2167128"/>
            <a:ext cx="5788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"/>
              <a:buFont typeface="Noto Sans TC"/>
              <a:buNone/>
            </a:pPr>
            <a:r>
              <a:rPr b="0" i="0" lang="zh-TW" sz="7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動作</a:t>
            </a:r>
            <a:endParaRPr b="0" i="0" sz="7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"/>
              <a:buFont typeface="Noto Sans TC"/>
              <a:buNone/>
            </a:pPr>
            <a:r>
              <a:rPr b="0" i="0" lang="zh-TW" sz="7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說明</a:t>
            </a:r>
            <a:endParaRPr b="0" i="0" sz="7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79" name="Google Shape;579;p35"/>
          <p:cNvSpPr/>
          <p:nvPr/>
        </p:nvSpPr>
        <p:spPr>
          <a:xfrm>
            <a:off x="2681935" y="1600200"/>
            <a:ext cx="1600200" cy="2011680"/>
          </a:xfrm>
          <a:prstGeom prst="roundRect">
            <a:avLst>
              <a:gd fmla="val 457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5"/>
          <p:cNvSpPr/>
          <p:nvPr/>
        </p:nvSpPr>
        <p:spPr>
          <a:xfrm>
            <a:off x="2883103" y="180136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5"/>
          <p:cNvSpPr txBox="1"/>
          <p:nvPr/>
        </p:nvSpPr>
        <p:spPr>
          <a:xfrm>
            <a:off x="2883103" y="1801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2" name="Google Shape;582;p35"/>
          <p:cNvSpPr txBox="1"/>
          <p:nvPr/>
        </p:nvSpPr>
        <p:spPr>
          <a:xfrm>
            <a:off x="2883103" y="2377440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環節二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3" name="Google Shape;583;p35"/>
          <p:cNvSpPr txBox="1"/>
          <p:nvPr/>
        </p:nvSpPr>
        <p:spPr>
          <a:xfrm>
            <a:off x="2883103" y="277063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工具或角色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4" name="Google Shape;584;p35"/>
          <p:cNvSpPr txBox="1"/>
          <p:nvPr/>
        </p:nvSpPr>
        <p:spPr>
          <a:xfrm>
            <a:off x="2883103" y="30449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585" name="Google Shape;585;p35"/>
          <p:cNvCxnSpPr/>
          <p:nvPr/>
        </p:nvCxnSpPr>
        <p:spPr>
          <a:xfrm>
            <a:off x="4336999" y="2606040"/>
            <a:ext cx="469087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6" name="Google Shape;586;p35"/>
          <p:cNvSpPr txBox="1"/>
          <p:nvPr/>
        </p:nvSpPr>
        <p:spPr>
          <a:xfrm>
            <a:off x="4282135" y="2167128"/>
            <a:ext cx="5788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"/>
              <a:buFont typeface="Noto Sans TC"/>
              <a:buNone/>
            </a:pPr>
            <a:r>
              <a:rPr b="0" i="0" lang="zh-TW" sz="7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C</a:t>
            </a:r>
            <a:endParaRPr b="0" i="0" sz="7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"/>
              <a:buFont typeface="Noto Sans TC"/>
              <a:buNone/>
            </a:pPr>
            <a:r>
              <a:rPr b="0" i="0" lang="zh-TW" sz="7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說明</a:t>
            </a:r>
            <a:endParaRPr b="0" i="0" sz="7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4860950" y="1600200"/>
            <a:ext cx="1600200" cy="2011680"/>
          </a:xfrm>
          <a:prstGeom prst="roundRect">
            <a:avLst>
              <a:gd fmla="val 457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5"/>
          <p:cNvSpPr/>
          <p:nvPr/>
        </p:nvSpPr>
        <p:spPr>
          <a:xfrm>
            <a:off x="5062118" y="1801368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5"/>
          <p:cNvSpPr txBox="1"/>
          <p:nvPr/>
        </p:nvSpPr>
        <p:spPr>
          <a:xfrm>
            <a:off x="5062118" y="1801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TC"/>
              <a:buNone/>
            </a:pPr>
            <a:r>
              <a:rPr b="1" i="0" lang="zh-TW" sz="9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C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0" name="Google Shape;590;p35"/>
          <p:cNvSpPr txBox="1"/>
          <p:nvPr/>
        </p:nvSpPr>
        <p:spPr>
          <a:xfrm>
            <a:off x="5062118" y="2377440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環節三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1" name="Google Shape;591;p35"/>
          <p:cNvSpPr txBox="1"/>
          <p:nvPr/>
        </p:nvSpPr>
        <p:spPr>
          <a:xfrm>
            <a:off x="5062118" y="277063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工具或角色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2" name="Google Shape;592;p35"/>
          <p:cNvSpPr txBox="1"/>
          <p:nvPr/>
        </p:nvSpPr>
        <p:spPr>
          <a:xfrm>
            <a:off x="5062118" y="30449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593" name="Google Shape;593;p35"/>
          <p:cNvCxnSpPr/>
          <p:nvPr/>
        </p:nvCxnSpPr>
        <p:spPr>
          <a:xfrm>
            <a:off x="6516014" y="2606040"/>
            <a:ext cx="469087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4" name="Google Shape;594;p35"/>
          <p:cNvSpPr txBox="1"/>
          <p:nvPr/>
        </p:nvSpPr>
        <p:spPr>
          <a:xfrm>
            <a:off x="6461150" y="2167128"/>
            <a:ext cx="5788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"/>
              <a:buFont typeface="Noto Sans TC"/>
              <a:buNone/>
            </a:pPr>
            <a:r>
              <a:rPr b="0" i="0" lang="zh-TW" sz="7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動作</a:t>
            </a:r>
            <a:endParaRPr b="0" i="0" sz="7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50"/>
              <a:buFont typeface="Noto Sans TC"/>
              <a:buNone/>
            </a:pPr>
            <a:r>
              <a:rPr b="0" i="0" lang="zh-TW" sz="7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說明</a:t>
            </a:r>
            <a:endParaRPr b="0" i="0" sz="7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7039966" y="1600200"/>
            <a:ext cx="1600200" cy="2011680"/>
          </a:xfrm>
          <a:prstGeom prst="roundRect">
            <a:avLst>
              <a:gd fmla="val 457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5"/>
          <p:cNvSpPr/>
          <p:nvPr/>
        </p:nvSpPr>
        <p:spPr>
          <a:xfrm>
            <a:off x="7241134" y="180136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5"/>
          <p:cNvSpPr txBox="1"/>
          <p:nvPr/>
        </p:nvSpPr>
        <p:spPr>
          <a:xfrm>
            <a:off x="7241134" y="18013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8" name="Google Shape;598;p35"/>
          <p:cNvSpPr txBox="1"/>
          <p:nvPr/>
        </p:nvSpPr>
        <p:spPr>
          <a:xfrm>
            <a:off x="7241134" y="2377440"/>
            <a:ext cx="11978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TC"/>
              <a:buNone/>
            </a:pPr>
            <a:r>
              <a:rPr b="1" i="0" lang="zh-TW" sz="14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環節四</a:t>
            </a:r>
            <a:endParaRPr b="0" i="0" sz="1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599" name="Google Shape;599;p35"/>
          <p:cNvSpPr txBox="1"/>
          <p:nvPr/>
        </p:nvSpPr>
        <p:spPr>
          <a:xfrm>
            <a:off x="7241134" y="277063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工具或角色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00" name="Google Shape;600;p35"/>
          <p:cNvSpPr txBox="1"/>
          <p:nvPr/>
        </p:nvSpPr>
        <p:spPr>
          <a:xfrm>
            <a:off x="7241134" y="3044952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01" name="Google Shape;601;p35"/>
          <p:cNvSpPr/>
          <p:nvPr/>
        </p:nvSpPr>
        <p:spPr>
          <a:xfrm>
            <a:off x="502920" y="3931920"/>
            <a:ext cx="8138160" cy="43891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5"/>
          <p:cNvSpPr txBox="1"/>
          <p:nvPr/>
        </p:nvSpPr>
        <p:spPr>
          <a:xfrm>
            <a:off x="731520" y="3931920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總結：用一句話說明整個流程。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03" name="Google Shape;603;p35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8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執行時程</a:t>
            </a:r>
            <a:endParaRPr sz="1000"/>
          </a:p>
        </p:txBody>
      </p:sp>
      <p:sp>
        <p:nvSpPr>
          <p:cNvPr id="650" name="Google Shape;650;p38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標題說明三個階段的重點</a:t>
            </a:r>
            <a:endParaRPr sz="2400"/>
          </a:p>
        </p:txBody>
      </p:sp>
      <p:cxnSp>
        <p:nvCxnSpPr>
          <p:cNvPr id="651" name="Google Shape;651;p38"/>
          <p:cNvCxnSpPr/>
          <p:nvPr/>
        </p:nvCxnSpPr>
        <p:spPr>
          <a:xfrm>
            <a:off x="1783080" y="1600200"/>
            <a:ext cx="557784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2" name="Google Shape;652;p38"/>
          <p:cNvSpPr/>
          <p:nvPr/>
        </p:nvSpPr>
        <p:spPr>
          <a:xfrm>
            <a:off x="1581912" y="13716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8"/>
          <p:cNvSpPr txBox="1"/>
          <p:nvPr/>
        </p:nvSpPr>
        <p:spPr>
          <a:xfrm>
            <a:off x="1581912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54" name="Google Shape;654;p38"/>
          <p:cNvSpPr/>
          <p:nvPr/>
        </p:nvSpPr>
        <p:spPr>
          <a:xfrm>
            <a:off x="502920" y="2011680"/>
            <a:ext cx="2615184" cy="1737360"/>
          </a:xfrm>
          <a:prstGeom prst="roundRect">
            <a:avLst>
              <a:gd fmla="val 421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8"/>
          <p:cNvSpPr txBox="1"/>
          <p:nvPr/>
        </p:nvSpPr>
        <p:spPr>
          <a:xfrm>
            <a:off x="731520" y="2176272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TC"/>
              <a:buNone/>
            </a:pPr>
            <a:r>
              <a:rPr b="1" i="0" lang="zh-TW" sz="15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階段一</a:t>
            </a:r>
            <a:endParaRPr b="0" i="0" sz="15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56" name="Google Shape;656;p38"/>
          <p:cNvSpPr txBox="1"/>
          <p:nvPr/>
        </p:nvSpPr>
        <p:spPr>
          <a:xfrm>
            <a:off x="731520" y="2670048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 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57" name="Google Shape;657;p38"/>
          <p:cNvSpPr txBox="1"/>
          <p:nvPr/>
        </p:nvSpPr>
        <p:spPr>
          <a:xfrm>
            <a:off x="731520" y="3054096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 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58" name="Google Shape;658;p38"/>
          <p:cNvSpPr/>
          <p:nvPr/>
        </p:nvSpPr>
        <p:spPr>
          <a:xfrm>
            <a:off x="4343400" y="137160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8"/>
          <p:cNvSpPr txBox="1"/>
          <p:nvPr/>
        </p:nvSpPr>
        <p:spPr>
          <a:xfrm>
            <a:off x="43434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0" name="Google Shape;660;p38"/>
          <p:cNvSpPr/>
          <p:nvPr/>
        </p:nvSpPr>
        <p:spPr>
          <a:xfrm>
            <a:off x="3264408" y="2011680"/>
            <a:ext cx="2615184" cy="1737360"/>
          </a:xfrm>
          <a:prstGeom prst="roundRect">
            <a:avLst>
              <a:gd fmla="val 421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8"/>
          <p:cNvSpPr txBox="1"/>
          <p:nvPr/>
        </p:nvSpPr>
        <p:spPr>
          <a:xfrm>
            <a:off x="3493008" y="2176272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TC"/>
              <a:buNone/>
            </a:pPr>
            <a:r>
              <a:rPr b="1" i="0" lang="zh-TW" sz="15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階段二</a:t>
            </a:r>
            <a:endParaRPr b="0" i="0" sz="15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2" name="Google Shape;662;p38"/>
          <p:cNvSpPr txBox="1"/>
          <p:nvPr/>
        </p:nvSpPr>
        <p:spPr>
          <a:xfrm>
            <a:off x="3493008" y="2670048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 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3" name="Google Shape;663;p38"/>
          <p:cNvSpPr txBox="1"/>
          <p:nvPr/>
        </p:nvSpPr>
        <p:spPr>
          <a:xfrm>
            <a:off x="3493008" y="3054096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 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4" name="Google Shape;664;p38"/>
          <p:cNvSpPr/>
          <p:nvPr/>
        </p:nvSpPr>
        <p:spPr>
          <a:xfrm>
            <a:off x="7104888" y="1371600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"/>
          <p:cNvSpPr txBox="1"/>
          <p:nvPr/>
        </p:nvSpPr>
        <p:spPr>
          <a:xfrm>
            <a:off x="7104888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6" name="Google Shape;666;p38"/>
          <p:cNvSpPr/>
          <p:nvPr/>
        </p:nvSpPr>
        <p:spPr>
          <a:xfrm>
            <a:off x="6025896" y="2011680"/>
            <a:ext cx="2615184" cy="1737360"/>
          </a:xfrm>
          <a:prstGeom prst="roundRect">
            <a:avLst>
              <a:gd fmla="val 421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8"/>
          <p:cNvSpPr txBox="1"/>
          <p:nvPr/>
        </p:nvSpPr>
        <p:spPr>
          <a:xfrm>
            <a:off x="6254496" y="2176272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TC"/>
              <a:buNone/>
            </a:pPr>
            <a:r>
              <a:rPr b="1" i="0" lang="zh-TW" sz="15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階段三</a:t>
            </a:r>
            <a:endParaRPr b="0" i="0" sz="15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8" name="Google Shape;668;p38"/>
          <p:cNvSpPr txBox="1"/>
          <p:nvPr/>
        </p:nvSpPr>
        <p:spPr>
          <a:xfrm>
            <a:off x="6254496" y="2670048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 A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69" name="Google Shape;669;p38"/>
          <p:cNvSpPr txBox="1"/>
          <p:nvPr/>
        </p:nvSpPr>
        <p:spPr>
          <a:xfrm>
            <a:off x="6254496" y="3054096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 B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502920" y="4023360"/>
            <a:ext cx="8138160" cy="438912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8"/>
          <p:cNvSpPr txBox="1"/>
          <p:nvPr/>
        </p:nvSpPr>
        <p:spPr>
          <a:xfrm>
            <a:off x="731520" y="4023360"/>
            <a:ext cx="7680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補充說明：寫出關鍵規則或前提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72" name="Google Shape;672;p38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9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運作循環</a:t>
            </a:r>
            <a:endParaRPr sz="1000"/>
          </a:p>
        </p:txBody>
      </p:sp>
      <p:sp>
        <p:nvSpPr>
          <p:cNvPr id="679" name="Google Shape;679;p39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標題說明這個循環如何運作</a:t>
            </a:r>
            <a:endParaRPr sz="2400"/>
          </a:p>
        </p:txBody>
      </p:sp>
      <p:sp>
        <p:nvSpPr>
          <p:cNvPr id="680" name="Google Shape;680;p39"/>
          <p:cNvSpPr/>
          <p:nvPr/>
        </p:nvSpPr>
        <p:spPr>
          <a:xfrm>
            <a:off x="3200400" y="1234440"/>
            <a:ext cx="2743200" cy="9144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9"/>
          <p:cNvSpPr/>
          <p:nvPr/>
        </p:nvSpPr>
        <p:spPr>
          <a:xfrm>
            <a:off x="3383280" y="1481328"/>
            <a:ext cx="420624" cy="4206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9"/>
          <p:cNvSpPr txBox="1"/>
          <p:nvPr/>
        </p:nvSpPr>
        <p:spPr>
          <a:xfrm>
            <a:off x="3383280" y="1481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3" name="Google Shape;683;p39"/>
          <p:cNvSpPr txBox="1"/>
          <p:nvPr/>
        </p:nvSpPr>
        <p:spPr>
          <a:xfrm>
            <a:off x="3931920" y="137160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環節一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3931920" y="169164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說明這一環做什麼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5" name="Google Shape;685;p39"/>
          <p:cNvSpPr/>
          <p:nvPr/>
        </p:nvSpPr>
        <p:spPr>
          <a:xfrm>
            <a:off x="5852160" y="2926080"/>
            <a:ext cx="2743200" cy="9144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9"/>
          <p:cNvSpPr/>
          <p:nvPr/>
        </p:nvSpPr>
        <p:spPr>
          <a:xfrm>
            <a:off x="6035040" y="3172968"/>
            <a:ext cx="420624" cy="4206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9"/>
          <p:cNvSpPr txBox="1"/>
          <p:nvPr/>
        </p:nvSpPr>
        <p:spPr>
          <a:xfrm>
            <a:off x="6035040" y="3172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6583680" y="306324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環節二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89" name="Google Shape;689;p39"/>
          <p:cNvSpPr txBox="1"/>
          <p:nvPr/>
        </p:nvSpPr>
        <p:spPr>
          <a:xfrm>
            <a:off x="6583680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說明這一環做什麼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0" name="Google Shape;690;p39"/>
          <p:cNvSpPr/>
          <p:nvPr/>
        </p:nvSpPr>
        <p:spPr>
          <a:xfrm>
            <a:off x="548640" y="2926080"/>
            <a:ext cx="2743200" cy="9144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9"/>
          <p:cNvSpPr/>
          <p:nvPr/>
        </p:nvSpPr>
        <p:spPr>
          <a:xfrm>
            <a:off x="731520" y="3172968"/>
            <a:ext cx="420624" cy="4206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9"/>
          <p:cNvSpPr txBox="1"/>
          <p:nvPr/>
        </p:nvSpPr>
        <p:spPr>
          <a:xfrm>
            <a:off x="731520" y="3172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3" name="Google Shape;693;p39"/>
          <p:cNvSpPr txBox="1"/>
          <p:nvPr/>
        </p:nvSpPr>
        <p:spPr>
          <a:xfrm>
            <a:off x="1280160" y="306324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環節三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1280160" y="3383280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0"/>
              <a:buFont typeface="Noto Sans TC"/>
              <a:buNone/>
            </a:pP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說明這一環做什麼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695" name="Google Shape;695;p39"/>
          <p:cNvSpPr/>
          <p:nvPr/>
        </p:nvSpPr>
        <p:spPr>
          <a:xfrm>
            <a:off x="3520440" y="2514600"/>
            <a:ext cx="2103120" cy="685800"/>
          </a:xfrm>
          <a:prstGeom prst="roundRect">
            <a:avLst>
              <a:gd fmla="val 10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9"/>
          <p:cNvSpPr txBox="1"/>
          <p:nvPr/>
        </p:nvSpPr>
        <p:spPr>
          <a:xfrm>
            <a:off x="3520440" y="25146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核心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價值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697" name="Google Shape;697;p39"/>
          <p:cNvCxnSpPr/>
          <p:nvPr/>
        </p:nvCxnSpPr>
        <p:spPr>
          <a:xfrm>
            <a:off x="5989320" y="1691640"/>
            <a:ext cx="960120" cy="118872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8" name="Google Shape;698;p39"/>
          <p:cNvCxnSpPr/>
          <p:nvPr/>
        </p:nvCxnSpPr>
        <p:spPr>
          <a:xfrm flipH="1">
            <a:off x="3337560" y="3566160"/>
            <a:ext cx="2468880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9" name="Google Shape;699;p39"/>
          <p:cNvCxnSpPr/>
          <p:nvPr/>
        </p:nvCxnSpPr>
        <p:spPr>
          <a:xfrm flipH="1" rot="10800000">
            <a:off x="1920240" y="1691640"/>
            <a:ext cx="1234440" cy="118872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0" name="Google Shape;700;p39"/>
          <p:cNvSpPr txBox="1"/>
          <p:nvPr/>
        </p:nvSpPr>
        <p:spPr>
          <a:xfrm>
            <a:off x="502920" y="420624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補充說明：這個循環帶來的長期效果。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01" name="Google Shape;701;p39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0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價值交換</a:t>
            </a:r>
            <a:endParaRPr sz="1000"/>
          </a:p>
        </p:txBody>
      </p:sp>
      <p:sp>
        <p:nvSpPr>
          <p:cNvPr id="708" name="Google Shape;708;p40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標題說明各方如何透過核心連結</a:t>
            </a:r>
            <a:endParaRPr sz="2400"/>
          </a:p>
        </p:txBody>
      </p:sp>
      <p:sp>
        <p:nvSpPr>
          <p:cNvPr id="709" name="Google Shape;709;p40"/>
          <p:cNvSpPr/>
          <p:nvPr/>
        </p:nvSpPr>
        <p:spPr>
          <a:xfrm>
            <a:off x="3154680" y="1188720"/>
            <a:ext cx="2834640" cy="868680"/>
          </a:xfrm>
          <a:prstGeom prst="roundRect">
            <a:avLst>
              <a:gd fmla="val 8421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0"/>
          <p:cNvSpPr txBox="1"/>
          <p:nvPr/>
        </p:nvSpPr>
        <p:spPr>
          <a:xfrm>
            <a:off x="3337560" y="1261872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角色 A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1" name="Google Shape;711;p40"/>
          <p:cNvSpPr txBox="1"/>
          <p:nvPr/>
        </p:nvSpPr>
        <p:spPr>
          <a:xfrm>
            <a:off x="3337560" y="155448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角色 A 得到什麼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角色 A 提供什麼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2" name="Google Shape;712;p40"/>
          <p:cNvSpPr/>
          <p:nvPr/>
        </p:nvSpPr>
        <p:spPr>
          <a:xfrm>
            <a:off x="3520440" y="2514600"/>
            <a:ext cx="2103120" cy="731520"/>
          </a:xfrm>
          <a:prstGeom prst="roundRect">
            <a:avLst>
              <a:gd fmla="val 1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40"/>
          <p:cNvSpPr txBox="1"/>
          <p:nvPr/>
        </p:nvSpPr>
        <p:spPr>
          <a:xfrm>
            <a:off x="3520440" y="2514600"/>
            <a:ext cx="2103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核心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平台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4" name="Google Shape;714;p40"/>
          <p:cNvSpPr/>
          <p:nvPr/>
        </p:nvSpPr>
        <p:spPr>
          <a:xfrm>
            <a:off x="502920" y="3429000"/>
            <a:ext cx="2606040" cy="1051560"/>
          </a:xfrm>
          <a:prstGeom prst="roundRect">
            <a:avLst>
              <a:gd fmla="val 695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40"/>
          <p:cNvSpPr/>
          <p:nvPr/>
        </p:nvSpPr>
        <p:spPr>
          <a:xfrm>
            <a:off x="685800" y="3547872"/>
            <a:ext cx="868680" cy="256032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0"/>
          <p:cNvSpPr txBox="1"/>
          <p:nvPr/>
        </p:nvSpPr>
        <p:spPr>
          <a:xfrm>
            <a:off x="685800" y="354787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角色 B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7" name="Google Shape;717;p40"/>
          <p:cNvSpPr txBox="1"/>
          <p:nvPr/>
        </p:nvSpPr>
        <p:spPr>
          <a:xfrm>
            <a:off x="685800" y="38770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得到：寫出角色 B 獲得的價值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8" name="Google Shape;718;p40"/>
          <p:cNvSpPr txBox="1"/>
          <p:nvPr/>
        </p:nvSpPr>
        <p:spPr>
          <a:xfrm>
            <a:off x="685800" y="4133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提供：寫出角色 B 的貢獻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6035040" y="3429000"/>
            <a:ext cx="2606040" cy="1051560"/>
          </a:xfrm>
          <a:prstGeom prst="roundRect">
            <a:avLst>
              <a:gd fmla="val 6957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40"/>
          <p:cNvSpPr/>
          <p:nvPr/>
        </p:nvSpPr>
        <p:spPr>
          <a:xfrm>
            <a:off x="6217920" y="3547872"/>
            <a:ext cx="868680" cy="256032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0"/>
          <p:cNvSpPr txBox="1"/>
          <p:nvPr/>
        </p:nvSpPr>
        <p:spPr>
          <a:xfrm>
            <a:off x="6217920" y="3547872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角色 C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2" name="Google Shape;722;p40"/>
          <p:cNvSpPr txBox="1"/>
          <p:nvPr/>
        </p:nvSpPr>
        <p:spPr>
          <a:xfrm>
            <a:off x="6217920" y="387705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得到：寫出角色 C 獲得的價值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23" name="Google Shape;723;p40"/>
          <p:cNvSpPr txBox="1"/>
          <p:nvPr/>
        </p:nvSpPr>
        <p:spPr>
          <a:xfrm>
            <a:off x="6217920" y="4133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提供：寫出角色 C 的貢獻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724" name="Google Shape;724;p40"/>
          <p:cNvCxnSpPr/>
          <p:nvPr/>
        </p:nvCxnSpPr>
        <p:spPr>
          <a:xfrm>
            <a:off x="4572000" y="2075688"/>
            <a:ext cx="914" cy="411480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5" name="Google Shape;725;p40"/>
          <p:cNvSpPr txBox="1"/>
          <p:nvPr/>
        </p:nvSpPr>
        <p:spPr>
          <a:xfrm>
            <a:off x="4663440" y="212140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關係說明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726" name="Google Shape;726;p40"/>
          <p:cNvCxnSpPr/>
          <p:nvPr/>
        </p:nvCxnSpPr>
        <p:spPr>
          <a:xfrm flipH="1" rot="10800000">
            <a:off x="2011680" y="2971800"/>
            <a:ext cx="1490472" cy="429768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7" name="Google Shape;727;p40"/>
          <p:cNvSpPr txBox="1"/>
          <p:nvPr/>
        </p:nvSpPr>
        <p:spPr>
          <a:xfrm>
            <a:off x="2011680" y="288036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50"/>
              <a:buFont typeface="Noto Sans TC"/>
              <a:buNone/>
            </a:pPr>
            <a:r>
              <a:rPr b="1" i="0" lang="zh-TW" sz="8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流向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728" name="Google Shape;728;p40"/>
          <p:cNvCxnSpPr/>
          <p:nvPr/>
        </p:nvCxnSpPr>
        <p:spPr>
          <a:xfrm rot="10800000">
            <a:off x="5641848" y="2971800"/>
            <a:ext cx="1490472" cy="429768"/>
          </a:xfrm>
          <a:prstGeom prst="straightConnector1">
            <a:avLst/>
          </a:prstGeom>
          <a:noFill/>
          <a:ln cap="flat" cmpd="sng" w="15875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9" name="Google Shape;729;p40"/>
          <p:cNvSpPr txBox="1"/>
          <p:nvPr/>
        </p:nvSpPr>
        <p:spPr>
          <a:xfrm>
            <a:off x="6355080" y="288036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50"/>
              <a:buFont typeface="Noto Sans TC"/>
              <a:buNone/>
            </a:pPr>
            <a:r>
              <a:rPr b="1" i="0" lang="zh-TW" sz="8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流向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730" name="Google Shape;730;p40"/>
          <p:cNvCxnSpPr/>
          <p:nvPr/>
        </p:nvCxnSpPr>
        <p:spPr>
          <a:xfrm flipH="1">
            <a:off x="3154680" y="4206240"/>
            <a:ext cx="2834640" cy="914"/>
          </a:xfrm>
          <a:prstGeom prst="straightConnector1">
            <a:avLst/>
          </a:prstGeom>
          <a:noFill/>
          <a:ln cap="flat" cmpd="sng" w="15875">
            <a:solidFill>
              <a:schemeClr val="accent6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731" name="Google Shape;731;p40"/>
          <p:cNvSpPr txBox="1"/>
          <p:nvPr/>
        </p:nvSpPr>
        <p:spPr>
          <a:xfrm>
            <a:off x="3154680" y="422452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50"/>
              <a:buFont typeface="Noto Sans TC"/>
              <a:buNone/>
            </a:pPr>
            <a:r>
              <a:rPr b="0" i="0" lang="zh-TW" sz="85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回饋流向</a:t>
            </a:r>
            <a:endParaRPr b="0" i="0" sz="8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732" name="Google Shape;732;p40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3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優先事項</a:t>
            </a:r>
            <a:endParaRPr sz="1000"/>
          </a:p>
        </p:txBody>
      </p:sp>
      <p:sp>
        <p:nvSpPr>
          <p:cNvPr id="819" name="Google Shape;819;p43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先完成三件最重要的事</a:t>
            </a:r>
            <a:endParaRPr sz="2400"/>
          </a:p>
        </p:txBody>
      </p:sp>
      <p:sp>
        <p:nvSpPr>
          <p:cNvPr id="820" name="Google Shape;820;p43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一句話說明這個階段的目標。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21" name="Google Shape;821;p43"/>
          <p:cNvSpPr/>
          <p:nvPr/>
        </p:nvSpPr>
        <p:spPr>
          <a:xfrm>
            <a:off x="502920" y="1463040"/>
            <a:ext cx="5532120" cy="777240"/>
          </a:xfrm>
          <a:prstGeom prst="roundRect">
            <a:avLst>
              <a:gd fmla="val 9412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3"/>
          <p:cNvSpPr/>
          <p:nvPr/>
        </p:nvSpPr>
        <p:spPr>
          <a:xfrm>
            <a:off x="704088" y="1645920"/>
            <a:ext cx="411480" cy="4114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3"/>
          <p:cNvSpPr txBox="1"/>
          <p:nvPr/>
        </p:nvSpPr>
        <p:spPr>
          <a:xfrm>
            <a:off x="704088" y="16459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24" name="Google Shape;824;p43"/>
          <p:cNvSpPr txBox="1"/>
          <p:nvPr/>
        </p:nvSpPr>
        <p:spPr>
          <a:xfrm>
            <a:off x="1280160" y="157276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25" name="Google Shape;825;p43"/>
          <p:cNvSpPr txBox="1"/>
          <p:nvPr/>
        </p:nvSpPr>
        <p:spPr>
          <a:xfrm>
            <a:off x="1737360" y="15727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事項一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26" name="Google Shape;826;p43"/>
          <p:cNvSpPr txBox="1"/>
          <p:nvPr/>
        </p:nvSpPr>
        <p:spPr>
          <a:xfrm>
            <a:off x="3246120" y="157276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說明要做什麼、由誰負責。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27" name="Google Shape;827;p43"/>
          <p:cNvSpPr/>
          <p:nvPr/>
        </p:nvSpPr>
        <p:spPr>
          <a:xfrm>
            <a:off x="502920" y="2377440"/>
            <a:ext cx="5532120" cy="777240"/>
          </a:xfrm>
          <a:prstGeom prst="roundRect">
            <a:avLst>
              <a:gd fmla="val 9412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3"/>
          <p:cNvSpPr/>
          <p:nvPr/>
        </p:nvSpPr>
        <p:spPr>
          <a:xfrm>
            <a:off x="704088" y="2560320"/>
            <a:ext cx="411480" cy="4114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43"/>
          <p:cNvSpPr txBox="1"/>
          <p:nvPr/>
        </p:nvSpPr>
        <p:spPr>
          <a:xfrm>
            <a:off x="704088" y="25603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0" name="Google Shape;830;p43"/>
          <p:cNvSpPr txBox="1"/>
          <p:nvPr/>
        </p:nvSpPr>
        <p:spPr>
          <a:xfrm>
            <a:off x="1280160" y="248716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1" name="Google Shape;831;p43"/>
          <p:cNvSpPr txBox="1"/>
          <p:nvPr/>
        </p:nvSpPr>
        <p:spPr>
          <a:xfrm>
            <a:off x="1737360" y="24871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事項二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2" name="Google Shape;832;p43"/>
          <p:cNvSpPr txBox="1"/>
          <p:nvPr/>
        </p:nvSpPr>
        <p:spPr>
          <a:xfrm>
            <a:off x="3246120" y="248716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說明要做什麼、由誰負責。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3" name="Google Shape;833;p43"/>
          <p:cNvSpPr/>
          <p:nvPr/>
        </p:nvSpPr>
        <p:spPr>
          <a:xfrm>
            <a:off x="502920" y="3291840"/>
            <a:ext cx="5532120" cy="777240"/>
          </a:xfrm>
          <a:prstGeom prst="roundRect">
            <a:avLst>
              <a:gd fmla="val 9412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3"/>
          <p:cNvSpPr/>
          <p:nvPr/>
        </p:nvSpPr>
        <p:spPr>
          <a:xfrm>
            <a:off x="704088" y="3474720"/>
            <a:ext cx="411480" cy="4114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3"/>
          <p:cNvSpPr txBox="1"/>
          <p:nvPr/>
        </p:nvSpPr>
        <p:spPr>
          <a:xfrm>
            <a:off x="704088" y="3474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6" name="Google Shape;836;p43"/>
          <p:cNvSpPr txBox="1"/>
          <p:nvPr/>
        </p:nvSpPr>
        <p:spPr>
          <a:xfrm>
            <a:off x="1280160" y="3401568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7" name="Google Shape;837;p43"/>
          <p:cNvSpPr txBox="1"/>
          <p:nvPr/>
        </p:nvSpPr>
        <p:spPr>
          <a:xfrm>
            <a:off x="1737360" y="34015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事項三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8" name="Google Shape;838;p43"/>
          <p:cNvSpPr txBox="1"/>
          <p:nvPr/>
        </p:nvSpPr>
        <p:spPr>
          <a:xfrm>
            <a:off x="3246120" y="3401568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說明要做什麼、由誰負責。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39" name="Google Shape;839;p43"/>
          <p:cNvSpPr/>
          <p:nvPr/>
        </p:nvSpPr>
        <p:spPr>
          <a:xfrm>
            <a:off x="6263640" y="1463040"/>
            <a:ext cx="2377440" cy="2606040"/>
          </a:xfrm>
          <a:prstGeom prst="roundRect">
            <a:avLst>
              <a:gd fmla="val 307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3"/>
          <p:cNvSpPr txBox="1"/>
          <p:nvPr/>
        </p:nvSpPr>
        <p:spPr>
          <a:xfrm>
            <a:off x="6492240" y="164592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accent3"/>
                </a:solidFill>
                <a:latin typeface="Noto Sans TC"/>
                <a:ea typeface="Noto Sans TC"/>
                <a:cs typeface="Noto Sans TC"/>
                <a:sym typeface="Noto Sans TC"/>
              </a:rPr>
              <a:t>驗證重點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1" name="Google Shape;841;p43"/>
          <p:cNvSpPr/>
          <p:nvPr/>
        </p:nvSpPr>
        <p:spPr>
          <a:xfrm>
            <a:off x="6492240" y="219456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3"/>
          <p:cNvSpPr txBox="1"/>
          <p:nvPr/>
        </p:nvSpPr>
        <p:spPr>
          <a:xfrm>
            <a:off x="649224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3" name="Google Shape;843;p43"/>
          <p:cNvSpPr txBox="1"/>
          <p:nvPr/>
        </p:nvSpPr>
        <p:spPr>
          <a:xfrm>
            <a:off x="6995160" y="21945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指標一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4" name="Google Shape;844;p43"/>
          <p:cNvSpPr/>
          <p:nvPr/>
        </p:nvSpPr>
        <p:spPr>
          <a:xfrm>
            <a:off x="6492240" y="276148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43"/>
          <p:cNvSpPr txBox="1"/>
          <p:nvPr/>
        </p:nvSpPr>
        <p:spPr>
          <a:xfrm>
            <a:off x="6492240" y="27614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6" name="Google Shape;846;p43"/>
          <p:cNvSpPr txBox="1"/>
          <p:nvPr/>
        </p:nvSpPr>
        <p:spPr>
          <a:xfrm>
            <a:off x="6995160" y="27614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指標二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6492240" y="3328416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43"/>
          <p:cNvSpPr txBox="1"/>
          <p:nvPr/>
        </p:nvSpPr>
        <p:spPr>
          <a:xfrm>
            <a:off x="6492240" y="3328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49" name="Google Shape;849;p43"/>
          <p:cNvSpPr txBox="1"/>
          <p:nvPr/>
        </p:nvSpPr>
        <p:spPr>
          <a:xfrm>
            <a:off x="6995160" y="3328416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Noto Sans TC"/>
              <a:buNone/>
            </a:pPr>
            <a:r>
              <a:rPr b="1" i="0" lang="zh-TW" sz="13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指標三</a:t>
            </a:r>
            <a:endParaRPr b="0" i="0" sz="13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50" name="Google Shape;850;p43"/>
          <p:cNvSpPr txBox="1"/>
          <p:nvPr/>
        </p:nvSpPr>
        <p:spPr>
          <a:xfrm>
            <a:off x="502920" y="434340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本頁重點　</a:t>
            </a:r>
            <a:r>
              <a:rPr b="0" i="0" lang="zh-TW" sz="95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用一句話總結這個階段要達成什麼。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51" name="Google Shape;851;p43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4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預期效益</a:t>
            </a:r>
            <a:endParaRPr sz="1000"/>
          </a:p>
        </p:txBody>
      </p:sp>
      <p:sp>
        <p:nvSpPr>
          <p:cNvPr id="858" name="Google Shape;858;p44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用指標比較前後差異</a:t>
            </a:r>
            <a:endParaRPr sz="2400"/>
          </a:p>
        </p:txBody>
      </p:sp>
      <p:sp>
        <p:nvSpPr>
          <p:cNvPr id="859" name="Google Shape;859;p44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一句話說明比較方式與數字的性質。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aphicFrame>
        <p:nvGraphicFramePr>
          <p:cNvPr id="860" name="Google Shape;860;p44"/>
          <p:cNvGraphicFramePr/>
          <p:nvPr/>
        </p:nvGraphicFramePr>
        <p:xfrm>
          <a:off x="50292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{CFED71BE-FE41-4826-A8D2-CA28A87D2B8E}</a:tableStyleId>
              </a:tblPr>
              <a:tblGrid>
                <a:gridCol w="1737350"/>
                <a:gridCol w="2148850"/>
                <a:gridCol w="411475"/>
                <a:gridCol w="2103125"/>
                <a:gridCol w="1737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指標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目前狀況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TC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目標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l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衡量方式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01　指標一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50"/>
                        <a:buFont typeface="Noto Sans TC"/>
                        <a:buNone/>
                      </a:pPr>
                      <a:r>
                        <a:rPr lang="zh-TW" sz="10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描述目前的狀況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→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寫出具體目標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50"/>
                        <a:buFont typeface="Noto Sans TC"/>
                        <a:buNone/>
                      </a:pPr>
                      <a:r>
                        <a:rPr lang="zh-TW" sz="9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衡量方式</a:t>
                      </a:r>
                      <a:endParaRPr sz="9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02　指標二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50"/>
                        <a:buFont typeface="Noto Sans TC"/>
                        <a:buNone/>
                      </a:pPr>
                      <a:r>
                        <a:rPr lang="zh-TW" sz="10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描述目前的狀況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→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寫出具體目標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50"/>
                        <a:buFont typeface="Noto Sans TC"/>
                        <a:buNone/>
                      </a:pPr>
                      <a:r>
                        <a:rPr lang="zh-TW" sz="9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衡量方式</a:t>
                      </a:r>
                      <a:endParaRPr sz="9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03　指標三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50"/>
                        <a:buFont typeface="Noto Sans TC"/>
                        <a:buNone/>
                      </a:pPr>
                      <a:r>
                        <a:rPr lang="zh-TW" sz="10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描述目前的狀況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→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寫出具體目標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50"/>
                        <a:buFont typeface="Noto Sans TC"/>
                        <a:buNone/>
                      </a:pPr>
                      <a:r>
                        <a:rPr lang="zh-TW" sz="9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衡量方式</a:t>
                      </a:r>
                      <a:endParaRPr sz="9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dk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04　指標四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050"/>
                        <a:buFont typeface="Noto Sans TC"/>
                        <a:buNone/>
                      </a:pPr>
                      <a:r>
                        <a:rPr lang="zh-TW" sz="10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描述目前的狀況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→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050"/>
                        <a:buFont typeface="Noto Sans TC"/>
                        <a:buNone/>
                      </a:pPr>
                      <a:r>
                        <a:rPr b="1" lang="zh-TW" sz="1050" u="none" cap="none" strike="noStrike">
                          <a:solidFill>
                            <a:schemeClr val="accent1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寫出具體目標</a:t>
                      </a:r>
                      <a:endParaRPr sz="10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50"/>
                        <a:buFont typeface="Noto Sans TC"/>
                        <a:buNone/>
                      </a:pPr>
                      <a:r>
                        <a:rPr lang="zh-TW" sz="950" u="none" cap="none" strike="noStrike">
                          <a:solidFill>
                            <a:schemeClr val="dk2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衡量方式</a:t>
                      </a:r>
                      <a:endParaRPr sz="950" u="none" cap="none" strike="noStrike">
                        <a:latin typeface="Noto Sans TC"/>
                        <a:ea typeface="Noto Sans TC"/>
                        <a:cs typeface="Noto Sans TC"/>
                        <a:sym typeface="Noto Sans TC"/>
                      </a:endParaRPr>
                    </a:p>
                  </a:txBody>
                  <a:tcPr marT="27425" marB="27425" marR="73150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61" name="Google Shape;861;p44"/>
          <p:cNvSpPr txBox="1"/>
          <p:nvPr/>
        </p:nvSpPr>
        <p:spPr>
          <a:xfrm>
            <a:off x="502920" y="388620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＊註明數字的來源或性質。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62" name="Google Shape;862;p44"/>
          <p:cNvSpPr/>
          <p:nvPr/>
        </p:nvSpPr>
        <p:spPr>
          <a:xfrm>
            <a:off x="502920" y="4206240"/>
            <a:ext cx="8138160" cy="420624"/>
          </a:xfrm>
          <a:prstGeom prst="roundRect">
            <a:avLst>
              <a:gd fmla="val 17391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4"/>
          <p:cNvSpPr txBox="1"/>
          <p:nvPr/>
        </p:nvSpPr>
        <p:spPr>
          <a:xfrm>
            <a:off x="731520" y="4206240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總結：說明這些指標要證明什麼。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64" name="Google Shape;864;p44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866" name="Google Shape;866;p44"/>
          <p:cNvSpPr/>
          <p:nvPr/>
        </p:nvSpPr>
        <p:spPr>
          <a:xfrm>
            <a:off x="8375950" y="4747375"/>
            <a:ext cx="302400" cy="28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4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46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團隊介紹</a:t>
            </a:r>
            <a:endParaRPr sz="1000"/>
          </a:p>
        </p:txBody>
      </p:sp>
      <p:sp>
        <p:nvSpPr>
          <p:cNvPr id="902" name="Google Shape;902;p46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標題說明團隊組成與分工</a:t>
            </a:r>
            <a:endParaRPr sz="2400"/>
          </a:p>
        </p:txBody>
      </p:sp>
      <p:sp>
        <p:nvSpPr>
          <p:cNvPr id="903" name="Google Shape;903;p46"/>
          <p:cNvSpPr/>
          <p:nvPr/>
        </p:nvSpPr>
        <p:spPr>
          <a:xfrm>
            <a:off x="502920" y="1234440"/>
            <a:ext cx="1920240" cy="2514600"/>
          </a:xfrm>
          <a:prstGeom prst="roundRect">
            <a:avLst>
              <a:gd fmla="val 381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6"/>
          <p:cNvSpPr txBox="1"/>
          <p:nvPr/>
        </p:nvSpPr>
        <p:spPr>
          <a:xfrm>
            <a:off x="704088" y="1435608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成員一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05" name="Google Shape;905;p46"/>
          <p:cNvSpPr/>
          <p:nvPr/>
        </p:nvSpPr>
        <p:spPr>
          <a:xfrm>
            <a:off x="704088" y="1892808"/>
            <a:ext cx="1517904" cy="27432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6"/>
          <p:cNvSpPr txBox="1"/>
          <p:nvPr/>
        </p:nvSpPr>
        <p:spPr>
          <a:xfrm>
            <a:off x="704088" y="1892808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負責領域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07" name="Google Shape;907;p46"/>
          <p:cNvSpPr txBox="1"/>
          <p:nvPr/>
        </p:nvSpPr>
        <p:spPr>
          <a:xfrm>
            <a:off x="704088" y="237744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08" name="Google Shape;908;p46"/>
          <p:cNvSpPr txBox="1"/>
          <p:nvPr/>
        </p:nvSpPr>
        <p:spPr>
          <a:xfrm>
            <a:off x="704088" y="278892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09" name="Google Shape;909;p46"/>
          <p:cNvSpPr txBox="1"/>
          <p:nvPr/>
        </p:nvSpPr>
        <p:spPr>
          <a:xfrm>
            <a:off x="704088" y="320040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0" name="Google Shape;910;p46"/>
          <p:cNvSpPr/>
          <p:nvPr/>
        </p:nvSpPr>
        <p:spPr>
          <a:xfrm>
            <a:off x="2578608" y="1234440"/>
            <a:ext cx="1920240" cy="2514600"/>
          </a:xfrm>
          <a:prstGeom prst="roundRect">
            <a:avLst>
              <a:gd fmla="val 381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6"/>
          <p:cNvSpPr txBox="1"/>
          <p:nvPr/>
        </p:nvSpPr>
        <p:spPr>
          <a:xfrm>
            <a:off x="2779776" y="1435608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成員二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2" name="Google Shape;912;p46"/>
          <p:cNvSpPr/>
          <p:nvPr/>
        </p:nvSpPr>
        <p:spPr>
          <a:xfrm>
            <a:off x="2779776" y="1892808"/>
            <a:ext cx="1517904" cy="27432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46"/>
          <p:cNvSpPr txBox="1"/>
          <p:nvPr/>
        </p:nvSpPr>
        <p:spPr>
          <a:xfrm>
            <a:off x="2779776" y="1892808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負責領域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4" name="Google Shape;914;p46"/>
          <p:cNvSpPr txBox="1"/>
          <p:nvPr/>
        </p:nvSpPr>
        <p:spPr>
          <a:xfrm>
            <a:off x="2779776" y="237744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5" name="Google Shape;915;p46"/>
          <p:cNvSpPr txBox="1"/>
          <p:nvPr/>
        </p:nvSpPr>
        <p:spPr>
          <a:xfrm>
            <a:off x="2779776" y="278892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6" name="Google Shape;916;p46"/>
          <p:cNvSpPr txBox="1"/>
          <p:nvPr/>
        </p:nvSpPr>
        <p:spPr>
          <a:xfrm>
            <a:off x="2779776" y="320040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7" name="Google Shape;917;p46"/>
          <p:cNvSpPr/>
          <p:nvPr/>
        </p:nvSpPr>
        <p:spPr>
          <a:xfrm>
            <a:off x="4654296" y="1234440"/>
            <a:ext cx="1920240" cy="2514600"/>
          </a:xfrm>
          <a:prstGeom prst="roundRect">
            <a:avLst>
              <a:gd fmla="val 381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46"/>
          <p:cNvSpPr txBox="1"/>
          <p:nvPr/>
        </p:nvSpPr>
        <p:spPr>
          <a:xfrm>
            <a:off x="4855464" y="1435608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成員三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19" name="Google Shape;919;p46"/>
          <p:cNvSpPr/>
          <p:nvPr/>
        </p:nvSpPr>
        <p:spPr>
          <a:xfrm>
            <a:off x="4855464" y="1892808"/>
            <a:ext cx="1517904" cy="27432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6"/>
          <p:cNvSpPr txBox="1"/>
          <p:nvPr/>
        </p:nvSpPr>
        <p:spPr>
          <a:xfrm>
            <a:off x="4855464" y="1892808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負責領域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1" name="Google Shape;921;p46"/>
          <p:cNvSpPr txBox="1"/>
          <p:nvPr/>
        </p:nvSpPr>
        <p:spPr>
          <a:xfrm>
            <a:off x="4855464" y="237744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2" name="Google Shape;922;p46"/>
          <p:cNvSpPr txBox="1"/>
          <p:nvPr/>
        </p:nvSpPr>
        <p:spPr>
          <a:xfrm>
            <a:off x="4855464" y="278892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3" name="Google Shape;923;p46"/>
          <p:cNvSpPr txBox="1"/>
          <p:nvPr/>
        </p:nvSpPr>
        <p:spPr>
          <a:xfrm>
            <a:off x="4855464" y="320040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4" name="Google Shape;924;p46"/>
          <p:cNvSpPr/>
          <p:nvPr/>
        </p:nvSpPr>
        <p:spPr>
          <a:xfrm>
            <a:off x="6729984" y="1234440"/>
            <a:ext cx="1920240" cy="2514600"/>
          </a:xfrm>
          <a:prstGeom prst="roundRect">
            <a:avLst>
              <a:gd fmla="val 3810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6"/>
          <p:cNvSpPr txBox="1"/>
          <p:nvPr/>
        </p:nvSpPr>
        <p:spPr>
          <a:xfrm>
            <a:off x="6931152" y="1435608"/>
            <a:ext cx="151790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TC"/>
              <a:buNone/>
            </a:pPr>
            <a:r>
              <a:rPr b="1" i="0" lang="zh-TW" sz="16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成員四</a:t>
            </a:r>
            <a:endParaRPr b="0" i="0" sz="16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6" name="Google Shape;926;p46"/>
          <p:cNvSpPr/>
          <p:nvPr/>
        </p:nvSpPr>
        <p:spPr>
          <a:xfrm>
            <a:off x="6931152" y="1892808"/>
            <a:ext cx="1517904" cy="27432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6"/>
          <p:cNvSpPr txBox="1"/>
          <p:nvPr/>
        </p:nvSpPr>
        <p:spPr>
          <a:xfrm>
            <a:off x="6931152" y="1892808"/>
            <a:ext cx="15179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負責領域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8" name="Google Shape;928;p46"/>
          <p:cNvSpPr txBox="1"/>
          <p:nvPr/>
        </p:nvSpPr>
        <p:spPr>
          <a:xfrm>
            <a:off x="6931152" y="237744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29" name="Google Shape;929;p46"/>
          <p:cNvSpPr txBox="1"/>
          <p:nvPr/>
        </p:nvSpPr>
        <p:spPr>
          <a:xfrm>
            <a:off x="6931152" y="278892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30" name="Google Shape;930;p46"/>
          <p:cNvSpPr txBox="1"/>
          <p:nvPr/>
        </p:nvSpPr>
        <p:spPr>
          <a:xfrm>
            <a:off x="6931152" y="3200400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50"/>
              <a:buFont typeface="Noto Sans TC"/>
              <a:buNone/>
            </a:pPr>
            <a:r>
              <a:rPr b="1" i="0" lang="zh-TW" sz="1050" u="none" cap="none" strike="noStrike">
                <a:solidFill>
                  <a:schemeClr val="accent2"/>
                </a:solidFill>
                <a:latin typeface="Noto Sans TC"/>
                <a:ea typeface="Noto Sans TC"/>
                <a:cs typeface="Noto Sans TC"/>
                <a:sym typeface="Noto Sans TC"/>
              </a:rPr>
              <a:t>✓  </a:t>
            </a:r>
            <a:r>
              <a:rPr b="0" i="0" lang="zh-TW" sz="105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工作項目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31" name="Google Shape;931;p4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fmla="val 13333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6"/>
          <p:cNvSpPr/>
          <p:nvPr/>
        </p:nvSpPr>
        <p:spPr>
          <a:xfrm>
            <a:off x="731520" y="4078224"/>
            <a:ext cx="640080" cy="256032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6"/>
          <p:cNvSpPr txBox="1"/>
          <p:nvPr/>
        </p:nvSpPr>
        <p:spPr>
          <a:xfrm>
            <a:off x="731520" y="4078224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50"/>
              <a:buFont typeface="Noto Sans TC"/>
              <a:buNone/>
            </a:pPr>
            <a:r>
              <a:rPr b="1" i="0" lang="zh-TW" sz="95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備註</a:t>
            </a:r>
            <a:endParaRPr b="0" i="0" sz="9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34" name="Google Shape;934;p46"/>
          <p:cNvSpPr txBox="1"/>
          <p:nvPr/>
        </p:nvSpPr>
        <p:spPr>
          <a:xfrm>
            <a:off x="1554480" y="393192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dk2"/>
                </a:solidFill>
                <a:latin typeface="Noto Sans TC"/>
                <a:ea typeface="Noto Sans TC"/>
                <a:cs typeface="Noto Sans TC"/>
                <a:sym typeface="Noto Sans TC"/>
              </a:rPr>
              <a:t>團隊能力：寫出成員的相關經驗與技能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35" name="Google Shape;935;p46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7"/>
          <p:cNvSpPr txBox="1"/>
          <p:nvPr/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TC"/>
              <a:buNone/>
            </a:pPr>
            <a:r>
              <a:rPr b="1" i="0" lang="zh-TW" sz="10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結論</a:t>
            </a:r>
            <a:endParaRPr b="0" i="0" sz="10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42" name="Google Shape;942;p47"/>
          <p:cNvSpPr txBox="1"/>
          <p:nvPr/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TC"/>
              <a:buNone/>
            </a:pPr>
            <a:r>
              <a:rPr b="1" i="0" lang="zh-TW" sz="24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標題直接寫出最重要的結論</a:t>
            </a:r>
            <a:endParaRPr b="0" i="0" sz="2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43" name="Google Shape;943;p47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Noto Sans TC"/>
              <a:buNone/>
            </a:pPr>
            <a:r>
              <a:rPr b="0" i="0" lang="zh-TW" sz="110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rPr>
              <a:t>一句話補充結論的核心精神。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44" name="Google Shape;944;p47"/>
          <p:cNvSpPr/>
          <p:nvPr/>
        </p:nvSpPr>
        <p:spPr>
          <a:xfrm>
            <a:off x="502920" y="1600200"/>
            <a:ext cx="2542032" cy="1965960"/>
          </a:xfrm>
          <a:prstGeom prst="roundRect">
            <a:avLst>
              <a:gd fmla="val 3721" name="adj"/>
            </a:avLst>
          </a:prstGeom>
          <a:solidFill>
            <a:schemeClr val="lt1">
              <a:alpha val="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47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7"/>
          <p:cNvSpPr txBox="1"/>
          <p:nvPr/>
        </p:nvSpPr>
        <p:spPr>
          <a:xfrm>
            <a:off x="731520" y="18288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TC"/>
              <a:buNone/>
            </a:pPr>
            <a:r>
              <a:rPr b="1" i="0" lang="zh-TW" sz="24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一</a:t>
            </a:r>
            <a:endParaRPr b="0" i="0" sz="2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47" name="Google Shape;947;p47"/>
          <p:cNvSpPr txBox="1"/>
          <p:nvPr/>
        </p:nvSpPr>
        <p:spPr>
          <a:xfrm>
            <a:off x="731520" y="2651760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TC"/>
              <a:buNone/>
            </a:pPr>
            <a:r>
              <a:rPr b="1" i="0" lang="zh-TW" sz="15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重點一</a:t>
            </a:r>
            <a:endParaRPr b="0" i="0" sz="15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48" name="Google Shape;948;p47"/>
          <p:cNvSpPr txBox="1"/>
          <p:nvPr/>
        </p:nvSpPr>
        <p:spPr>
          <a:xfrm>
            <a:off x="731520" y="3017520"/>
            <a:ext cx="2084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說明這個重點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949" name="Google Shape;949;p47"/>
          <p:cNvCxnSpPr/>
          <p:nvPr/>
        </p:nvCxnSpPr>
        <p:spPr>
          <a:xfrm>
            <a:off x="3072384" y="2583180"/>
            <a:ext cx="173736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0" name="Google Shape;950;p47"/>
          <p:cNvSpPr/>
          <p:nvPr/>
        </p:nvSpPr>
        <p:spPr>
          <a:xfrm>
            <a:off x="3264408" y="1600200"/>
            <a:ext cx="2542032" cy="1965960"/>
          </a:xfrm>
          <a:prstGeom prst="roundRect">
            <a:avLst>
              <a:gd fmla="val 3721" name="adj"/>
            </a:avLst>
          </a:prstGeom>
          <a:solidFill>
            <a:schemeClr val="lt1">
              <a:alpha val="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47"/>
          <p:cNvSpPr/>
          <p:nvPr/>
        </p:nvSpPr>
        <p:spPr>
          <a:xfrm>
            <a:off x="3493008" y="182880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7"/>
          <p:cNvSpPr txBox="1"/>
          <p:nvPr/>
        </p:nvSpPr>
        <p:spPr>
          <a:xfrm>
            <a:off x="3493008" y="18288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TC"/>
              <a:buNone/>
            </a:pPr>
            <a:r>
              <a:rPr b="1" i="0" lang="zh-TW" sz="24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二</a:t>
            </a:r>
            <a:endParaRPr b="0" i="0" sz="2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53" name="Google Shape;953;p47"/>
          <p:cNvSpPr txBox="1"/>
          <p:nvPr/>
        </p:nvSpPr>
        <p:spPr>
          <a:xfrm>
            <a:off x="3493008" y="2651760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TC"/>
              <a:buNone/>
            </a:pPr>
            <a:r>
              <a:rPr b="1" i="0" lang="zh-TW" sz="15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重點二</a:t>
            </a:r>
            <a:endParaRPr b="0" i="0" sz="15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54" name="Google Shape;954;p47"/>
          <p:cNvSpPr txBox="1"/>
          <p:nvPr/>
        </p:nvSpPr>
        <p:spPr>
          <a:xfrm>
            <a:off x="3493008" y="3017520"/>
            <a:ext cx="2084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說明這個重點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955" name="Google Shape;955;p47"/>
          <p:cNvCxnSpPr/>
          <p:nvPr/>
        </p:nvCxnSpPr>
        <p:spPr>
          <a:xfrm>
            <a:off x="5833872" y="2583180"/>
            <a:ext cx="173736" cy="914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6" name="Google Shape;956;p47"/>
          <p:cNvSpPr/>
          <p:nvPr/>
        </p:nvSpPr>
        <p:spPr>
          <a:xfrm>
            <a:off x="6025896" y="1600200"/>
            <a:ext cx="2542032" cy="1965960"/>
          </a:xfrm>
          <a:prstGeom prst="roundRect">
            <a:avLst>
              <a:gd fmla="val 3721" name="adj"/>
            </a:avLst>
          </a:prstGeom>
          <a:solidFill>
            <a:schemeClr val="lt1">
              <a:alpha val="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47"/>
          <p:cNvSpPr/>
          <p:nvPr/>
        </p:nvSpPr>
        <p:spPr>
          <a:xfrm>
            <a:off x="6254496" y="1828800"/>
            <a:ext cx="685800" cy="685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7"/>
          <p:cNvSpPr txBox="1"/>
          <p:nvPr/>
        </p:nvSpPr>
        <p:spPr>
          <a:xfrm>
            <a:off x="6254496" y="182880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TC"/>
              <a:buNone/>
            </a:pPr>
            <a:r>
              <a:rPr b="1" i="0" lang="zh-TW" sz="24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三</a:t>
            </a:r>
            <a:endParaRPr b="0" i="0" sz="24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59" name="Google Shape;959;p47"/>
          <p:cNvSpPr txBox="1"/>
          <p:nvPr/>
        </p:nvSpPr>
        <p:spPr>
          <a:xfrm>
            <a:off x="6254496" y="2651760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TC"/>
              <a:buNone/>
            </a:pPr>
            <a:r>
              <a:rPr b="1" i="0" lang="zh-TW" sz="15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重點三</a:t>
            </a:r>
            <a:endParaRPr b="0" i="0" sz="15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60" name="Google Shape;960;p47"/>
          <p:cNvSpPr txBox="1"/>
          <p:nvPr/>
        </p:nvSpPr>
        <p:spPr>
          <a:xfrm>
            <a:off x="6254496" y="3017520"/>
            <a:ext cx="20848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50"/>
              <a:buFont typeface="Noto Sans TC"/>
              <a:buNone/>
            </a:pPr>
            <a:r>
              <a:rPr b="0" i="0" lang="zh-TW" sz="1050" u="none" cap="none" strike="noStrike">
                <a:solidFill>
                  <a:schemeClr val="accent5"/>
                </a:solidFill>
                <a:latin typeface="Noto Sans TC"/>
                <a:ea typeface="Noto Sans TC"/>
                <a:cs typeface="Noto Sans TC"/>
                <a:sym typeface="Noto Sans TC"/>
              </a:rPr>
              <a:t>說明這個重點</a:t>
            </a:r>
            <a:endParaRPr b="0" i="0" sz="105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502920" y="3886200"/>
            <a:ext cx="8138160" cy="502920"/>
          </a:xfrm>
          <a:prstGeom prst="roundRect">
            <a:avLst>
              <a:gd fmla="val 1454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47"/>
          <p:cNvSpPr txBox="1"/>
          <p:nvPr/>
        </p:nvSpPr>
        <p:spPr>
          <a:xfrm>
            <a:off x="731520" y="388620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lt1"/>
                </a:solidFill>
                <a:latin typeface="Noto Sans TC"/>
                <a:ea typeface="Noto Sans TC"/>
                <a:cs typeface="Noto Sans TC"/>
                <a:sym typeface="Noto Sans TC"/>
              </a:rPr>
              <a:t>下一步：寫出希望觀眾採取的具體行動。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63" name="Google Shape;963;p47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8"/>
          <p:cNvSpPr txBox="1"/>
          <p:nvPr>
            <p:ph idx="1" type="body"/>
          </p:nvPr>
        </p:nvSpPr>
        <p:spPr>
          <a:xfrm>
            <a:off x="502920" y="274320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</a:pPr>
            <a:r>
              <a:rPr b="1" lang="zh-TW" sz="1000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資料來源</a:t>
            </a:r>
            <a:endParaRPr sz="1000"/>
          </a:p>
        </p:txBody>
      </p:sp>
      <p:sp>
        <p:nvSpPr>
          <p:cNvPr id="970" name="Google Shape;970;p48"/>
          <p:cNvSpPr txBox="1"/>
          <p:nvPr>
            <p:ph type="title"/>
          </p:nvPr>
        </p:nvSpPr>
        <p:spPr>
          <a:xfrm>
            <a:off x="502920" y="53035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TC"/>
              <a:buNone/>
            </a:pPr>
            <a:r>
              <a:rPr b="1" lang="zh-TW" sz="2400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參考文獻與資料來源</a:t>
            </a:r>
            <a:endParaRPr sz="2400"/>
          </a:p>
        </p:txBody>
      </p:sp>
      <p:sp>
        <p:nvSpPr>
          <p:cNvPr id="971" name="Google Shape;971;p48"/>
          <p:cNvSpPr/>
          <p:nvPr/>
        </p:nvSpPr>
        <p:spPr>
          <a:xfrm>
            <a:off x="502920" y="1234440"/>
            <a:ext cx="8138160" cy="3017520"/>
          </a:xfrm>
          <a:prstGeom prst="roundRect">
            <a:avLst>
              <a:gd fmla="val 2424" name="adj"/>
            </a:avLst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8"/>
          <p:cNvSpPr txBox="1"/>
          <p:nvPr/>
        </p:nvSpPr>
        <p:spPr>
          <a:xfrm>
            <a:off x="731520" y="137160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73" name="Google Shape;973;p48"/>
          <p:cNvSpPr txBox="1"/>
          <p:nvPr/>
        </p:nvSpPr>
        <p:spPr>
          <a:xfrm>
            <a:off x="1234440" y="13716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來源名稱｜頁面標題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74" name="Google Shape;974;p48">
            <a:hlinkClick r:id="rId3"/>
          </p:cNvPr>
          <p:cNvSpPr txBox="1"/>
          <p:nvPr/>
        </p:nvSpPr>
        <p:spPr>
          <a:xfrm>
            <a:off x="4663440" y="13716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TC"/>
              <a:buNone/>
            </a:pPr>
            <a:r>
              <a:rPr b="0" i="0" lang="zh-TW" sz="900" u="sng" cap="none" strike="noStrike">
                <a:solidFill>
                  <a:schemeClr val="hlink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https://example.com/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975" name="Google Shape;975;p48"/>
          <p:cNvCxnSpPr/>
          <p:nvPr/>
        </p:nvCxnSpPr>
        <p:spPr>
          <a:xfrm>
            <a:off x="731520" y="1847088"/>
            <a:ext cx="768096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6" name="Google Shape;976;p48"/>
          <p:cNvSpPr txBox="1"/>
          <p:nvPr/>
        </p:nvSpPr>
        <p:spPr>
          <a:xfrm>
            <a:off x="731520" y="19202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77" name="Google Shape;977;p48"/>
          <p:cNvSpPr txBox="1"/>
          <p:nvPr/>
        </p:nvSpPr>
        <p:spPr>
          <a:xfrm>
            <a:off x="1234440" y="19202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來源名稱｜頁面標題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78" name="Google Shape;978;p48">
            <a:hlinkClick r:id="rId5"/>
          </p:cNvPr>
          <p:cNvSpPr txBox="1"/>
          <p:nvPr/>
        </p:nvSpPr>
        <p:spPr>
          <a:xfrm>
            <a:off x="4663440" y="192024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TC"/>
              <a:buNone/>
            </a:pPr>
            <a:r>
              <a:rPr b="0" i="0" lang="zh-TW" sz="900" u="sng" cap="none" strike="noStrike">
                <a:solidFill>
                  <a:schemeClr val="hlink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https://example.com/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979" name="Google Shape;979;p48"/>
          <p:cNvCxnSpPr/>
          <p:nvPr/>
        </p:nvCxnSpPr>
        <p:spPr>
          <a:xfrm>
            <a:off x="731520" y="2395728"/>
            <a:ext cx="768096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48"/>
          <p:cNvSpPr txBox="1"/>
          <p:nvPr/>
        </p:nvSpPr>
        <p:spPr>
          <a:xfrm>
            <a:off x="731520" y="24688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81" name="Google Shape;981;p48"/>
          <p:cNvSpPr txBox="1"/>
          <p:nvPr/>
        </p:nvSpPr>
        <p:spPr>
          <a:xfrm>
            <a:off x="1234440" y="246888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來源名稱｜頁面標題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82" name="Google Shape;982;p48">
            <a:hlinkClick r:id="rId7"/>
          </p:cNvPr>
          <p:cNvSpPr txBox="1"/>
          <p:nvPr/>
        </p:nvSpPr>
        <p:spPr>
          <a:xfrm>
            <a:off x="4663440" y="246888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TC"/>
              <a:buNone/>
            </a:pPr>
            <a:r>
              <a:rPr b="0" i="0" lang="zh-TW" sz="900" u="sng" cap="none" strike="noStrike">
                <a:solidFill>
                  <a:schemeClr val="hlink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https://example.com/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983" name="Google Shape;983;p48"/>
          <p:cNvCxnSpPr/>
          <p:nvPr/>
        </p:nvCxnSpPr>
        <p:spPr>
          <a:xfrm>
            <a:off x="731520" y="2944368"/>
            <a:ext cx="768096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4" name="Google Shape;984;p48"/>
          <p:cNvSpPr txBox="1"/>
          <p:nvPr/>
        </p:nvSpPr>
        <p:spPr>
          <a:xfrm>
            <a:off x="731520" y="301752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85" name="Google Shape;985;p48"/>
          <p:cNvSpPr txBox="1"/>
          <p:nvPr/>
        </p:nvSpPr>
        <p:spPr>
          <a:xfrm>
            <a:off x="1234440" y="30175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來源名稱｜頁面標題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86" name="Google Shape;986;p48">
            <a:hlinkClick r:id="rId9"/>
          </p:cNvPr>
          <p:cNvSpPr txBox="1"/>
          <p:nvPr/>
        </p:nvSpPr>
        <p:spPr>
          <a:xfrm>
            <a:off x="4663440" y="301752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TC"/>
              <a:buNone/>
            </a:pPr>
            <a:r>
              <a:rPr b="0" i="0" lang="zh-TW" sz="900" u="sng" cap="none" strike="noStrike">
                <a:solidFill>
                  <a:schemeClr val="hlink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https://example.com/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cxnSp>
        <p:nvCxnSpPr>
          <p:cNvPr id="987" name="Google Shape;987;p48"/>
          <p:cNvCxnSpPr/>
          <p:nvPr/>
        </p:nvCxnSpPr>
        <p:spPr>
          <a:xfrm>
            <a:off x="731520" y="3493008"/>
            <a:ext cx="768096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8" name="Google Shape;988;p48"/>
          <p:cNvSpPr txBox="1"/>
          <p:nvPr/>
        </p:nvSpPr>
        <p:spPr>
          <a:xfrm>
            <a:off x="731520" y="356616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TC"/>
              <a:buNone/>
            </a:pPr>
            <a:r>
              <a:rPr b="1" i="0" lang="zh-TW" sz="1200" u="none" cap="none" strike="noStrike">
                <a:solidFill>
                  <a:schemeClr val="accent1"/>
                </a:solidFill>
                <a:latin typeface="Noto Sans TC"/>
                <a:ea typeface="Noto Sans TC"/>
                <a:cs typeface="Noto Sans TC"/>
                <a:sym typeface="Noto Sans TC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89" name="Google Shape;989;p48"/>
          <p:cNvSpPr txBox="1"/>
          <p:nvPr/>
        </p:nvSpPr>
        <p:spPr>
          <a:xfrm>
            <a:off x="1234440" y="356616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TC"/>
              <a:buNone/>
            </a:pPr>
            <a:r>
              <a:rPr b="1" i="0" lang="zh-TW" sz="1100" u="none" cap="none" strike="noStrike">
                <a:solidFill>
                  <a:schemeClr val="dk1"/>
                </a:solidFill>
                <a:latin typeface="Noto Sans TC"/>
                <a:ea typeface="Noto Sans TC"/>
                <a:cs typeface="Noto Sans TC"/>
                <a:sym typeface="Noto Sans TC"/>
              </a:rPr>
              <a:t>來源名稱｜頁面標題</a:t>
            </a:r>
            <a:endParaRPr b="0" i="0" sz="11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90" name="Google Shape;990;p48">
            <a:hlinkClick r:id="rId11"/>
          </p:cNvPr>
          <p:cNvSpPr txBox="1"/>
          <p:nvPr/>
        </p:nvSpPr>
        <p:spPr>
          <a:xfrm>
            <a:off x="4663440" y="356616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TC"/>
              <a:buNone/>
            </a:pPr>
            <a:r>
              <a:rPr b="0" i="0" lang="zh-TW" sz="900" u="sng" cap="none" strike="noStrike">
                <a:solidFill>
                  <a:schemeClr val="hlink"/>
                </a:solidFill>
                <a:latin typeface="Noto Sans TC"/>
                <a:ea typeface="Noto Sans TC"/>
                <a:cs typeface="Noto Sans TC"/>
                <a:sym typeface="Noto Sans TC"/>
              </a:rPr>
              <a:t>https://example.com/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91" name="Google Shape;991;p48"/>
          <p:cNvSpPr txBox="1"/>
          <p:nvPr/>
        </p:nvSpPr>
        <p:spPr>
          <a:xfrm>
            <a:off x="502920" y="438912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Noto Sans TC"/>
              <a:buNone/>
            </a:pPr>
            <a:r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註明網頁資料的查閱日期。</a:t>
            </a:r>
            <a:endParaRPr b="0" i="0" sz="900" u="none" cap="none" strike="noStrike">
              <a:solidFill>
                <a:schemeClr val="dk1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sp>
        <p:nvSpPr>
          <p:cNvPr id="992" name="Google Shape;992;p48"/>
          <p:cNvSpPr txBox="1"/>
          <p:nvPr>
            <p:ph idx="4294967295" type="sldNum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900" u="none" cap="none" strike="noStrike">
                <a:solidFill>
                  <a:schemeClr val="accent6"/>
                </a:solidFill>
                <a:latin typeface="Noto Sans TC"/>
                <a:ea typeface="Noto Sans TC"/>
                <a:cs typeface="Noto Sans TC"/>
                <a:sym typeface="Noto Sans TC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社團動態 暖色">
  <a:themeElements>
    <a:clrScheme name="社團動態 暖色">
      <a:dk1>
        <a:srgbClr val="2D2321"/>
      </a:dk1>
      <a:lt1>
        <a:srgbClr val="FFFFFF"/>
      </a:lt1>
      <a:dk2>
        <a:srgbClr val="5C504A"/>
      </a:dk2>
      <a:lt2>
        <a:srgbClr val="F8F5F0"/>
      </a:lt2>
      <a:accent1>
        <a:srgbClr val="C8643B"/>
      </a:accent1>
      <a:accent2>
        <a:srgbClr val="4F7FA0"/>
      </a:accent2>
      <a:accent3>
        <a:srgbClr val="F6E3D7"/>
      </a:accent3>
      <a:accent4>
        <a:srgbClr val="DFEAF1"/>
      </a:accent4>
      <a:accent5>
        <a:srgbClr val="E8E0D6"/>
      </a:accent5>
      <a:accent6>
        <a:srgbClr val="978A82"/>
      </a:accent6>
      <a:hlink>
        <a:srgbClr val="4F7FA0"/>
      </a:hlink>
      <a:folHlink>
        <a:srgbClr val="978A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